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f8177475e641e9" /><Relationship Type="http://schemas.openxmlformats.org/officeDocument/2006/relationships/extended-properties" Target="/docProps/app.xml" Id="Raea74f8bab894c5a" /><Relationship Type="http://schemas.openxmlformats.org/officeDocument/2006/relationships/officeDocument" Target="/ppt/presentation.xml" Id="R858bec3e8725487a" /></Relationships>
</file>

<file path=ppt/presentation.xml><?xml version="1.0" encoding="utf-8"?>
<p:presentation xmlns:p="http://schemas.openxmlformats.org/presentationml/2006/main">
  <p:sldMasterIdLst>
    <p:sldMasterId xmlns:r="http://schemas.openxmlformats.org/officeDocument/2006/relationships" id="2147483648" r:id="R5a7aed954be94784"/>
  </p:sldMasterIdLst>
  <p:notesMasterIdLst>
    <p:notesMasterId xmlns:r="http://schemas.openxmlformats.org/officeDocument/2006/relationships" r:id="Ra0df452037a44ea3"/>
  </p:notesMasterIdLst>
  <p:sldIdLst>
    <p:sldId xmlns:r="http://schemas.openxmlformats.org/officeDocument/2006/relationships" id="256" r:id="R43d7c268db674e1d"/>
    <p:sldId xmlns:r="http://schemas.openxmlformats.org/officeDocument/2006/relationships" id="257" r:id="Ra899e5d948004da4"/>
    <p:sldId xmlns:r="http://schemas.openxmlformats.org/officeDocument/2006/relationships" id="258" r:id="R6923e435916e4a3f"/>
    <p:sldId xmlns:r="http://schemas.openxmlformats.org/officeDocument/2006/relationships" id="259" r:id="Rbba7db842d0043f4"/>
    <p:sldId xmlns:r="http://schemas.openxmlformats.org/officeDocument/2006/relationships" id="260" r:id="Red7ce60e952a4d99"/>
    <p:sldId xmlns:r="http://schemas.openxmlformats.org/officeDocument/2006/relationships" id="261" r:id="Ra704c7a017754747"/>
    <p:sldId xmlns:r="http://schemas.openxmlformats.org/officeDocument/2006/relationships" id="262" r:id="Rb1b4fbef3bf745f2"/>
    <p:sldId xmlns:r="http://schemas.openxmlformats.org/officeDocument/2006/relationships" id="263" r:id="Rc33b3ee9fe234c6f"/>
    <p:sldId xmlns:r="http://schemas.openxmlformats.org/officeDocument/2006/relationships" id="264" r:id="Refa246327da54c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c94be608214044" /><Relationship Type="http://schemas.openxmlformats.org/officeDocument/2006/relationships/slideMaster" Target="/ppt/slideMasters/slideMaster1.xml" Id="R5a7aed954be94784" /><Relationship Type="http://schemas.openxmlformats.org/officeDocument/2006/relationships/notesMaster" Target="/ppt/notesMasters/notesMaster1.xml" Id="Ra0df452037a44ea3" /><Relationship Type="http://schemas.openxmlformats.org/officeDocument/2006/relationships/presProps" Target="/ppt/presProps.xml" Id="R12333ced5e6b44a3" /><Relationship Type="http://schemas.openxmlformats.org/officeDocument/2006/relationships/tableStyles" Target="/ppt/tableStyles.xml" Id="R4a7358524126471c" /><Relationship Type="http://schemas.openxmlformats.org/officeDocument/2006/relationships/slide" Target="/ppt/slides/slide1.xml" Id="R43d7c268db674e1d" /><Relationship Type="http://schemas.openxmlformats.org/officeDocument/2006/relationships/slide" Target="/ppt/slides/slide2.xml" Id="Ra899e5d948004da4" /><Relationship Type="http://schemas.openxmlformats.org/officeDocument/2006/relationships/slide" Target="/ppt/slides/slide3.xml" Id="R6923e435916e4a3f" /><Relationship Type="http://schemas.openxmlformats.org/officeDocument/2006/relationships/slide" Target="/ppt/slides/slide4.xml" Id="Rbba7db842d0043f4" /><Relationship Type="http://schemas.openxmlformats.org/officeDocument/2006/relationships/slide" Target="/ppt/slides/slide5.xml" Id="Red7ce60e952a4d99" /><Relationship Type="http://schemas.openxmlformats.org/officeDocument/2006/relationships/slide" Target="/ppt/slides/slide6.xml" Id="Ra704c7a017754747" /><Relationship Type="http://schemas.openxmlformats.org/officeDocument/2006/relationships/slide" Target="/ppt/slides/slide7.xml" Id="Rb1b4fbef3bf745f2" /><Relationship Type="http://schemas.openxmlformats.org/officeDocument/2006/relationships/slide" Target="/ppt/slides/slide8.xml" Id="Rc33b3ee9fe234c6f" /><Relationship Type="http://schemas.openxmlformats.org/officeDocument/2006/relationships/slide" Target="/ppt/slides/slide9.xml" Id="Refa246327da54c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d5c71d1274a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3ccefb73b84229" /><Relationship Type="http://schemas.openxmlformats.org/officeDocument/2006/relationships/notesMaster" Target="/ppt/notesMasters/notesMaster1.xml" Id="Rb0450fcb0a2e4b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9fe63ae4fa43ce" /><Relationship Type="http://schemas.openxmlformats.org/officeDocument/2006/relationships/notesMaster" Target="/ppt/notesMasters/notesMaster1.xml" Id="Rb074e2367e2146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a7e05a46f64e87" /><Relationship Type="http://schemas.openxmlformats.org/officeDocument/2006/relationships/notesMaster" Target="/ppt/notesMasters/notesMaster1.xml" Id="R0be8b9263e264c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87ff1084a14031" /><Relationship Type="http://schemas.openxmlformats.org/officeDocument/2006/relationships/notesMaster" Target="/ppt/notesMasters/notesMaster1.xml" Id="R7c8bd6c679514c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21cf97eb6b4422" /><Relationship Type="http://schemas.openxmlformats.org/officeDocument/2006/relationships/notesMaster" Target="/ppt/notesMasters/notesMaster1.xml" Id="Rba28f7e7cf874a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c220efb8ef4762" /><Relationship Type="http://schemas.openxmlformats.org/officeDocument/2006/relationships/notesMaster" Target="/ppt/notesMasters/notesMaster1.xml" Id="Rf08d22820cd04c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23afbddccf41c4" /><Relationship Type="http://schemas.openxmlformats.org/officeDocument/2006/relationships/notesMaster" Target="/ppt/notesMasters/notesMaster1.xml" Id="R188a09c55a7f46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8c3eec52d040be" /><Relationship Type="http://schemas.openxmlformats.org/officeDocument/2006/relationships/notesMaster" Target="/ppt/notesMasters/notesMaster1.xml" Id="Rbaf98cc85bc145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387123aaa940a6" /><Relationship Type="http://schemas.openxmlformats.org/officeDocument/2006/relationships/notesMaster" Target="/ppt/notesMasters/notesMaster1.xml" Id="R7ec32de9ba1543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This project investigates whether a compact vision model can locate and classify visible defects in pork rasher packaging. I also compared taught regression methods for counting annotated defects. The final detector found some defects, particularly unsealed packaging, but missed more than half overall.</a:t>
            </a:r>
          </a:p>
          <a:p xmlns:a="http://schemas.openxmlformats.org/drawingml/2006/main">
            <a:r>
              <a:t>Sources: MMA3001 project brief and dataset description, supplied 2026. Project report, sections 1 and 7.</a:t>
            </a:r>
          </a:p>
          <a:p xmlns:a="http://schemas.openxmlformats.org/drawingml/2006/main">
            <a:br/>
            <a:r>
              <a:t>Image: Hello, Pork Rasher Error Packaging v4, Roboflow, CC BY 4.0. https://universe.roboflow.com/hello-2aqe0/pork-rasher-error-packaging/dataset/4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The input is a colour image. The main output is a bounding box and class for each suspected defect. All five supplied classes were included in training. The label packaging-error is separate from unsealed and wrinkle in this dataset, even though the words overlap in ordinary usage. Their exact annotation boundary is unclear. I removed overlapping sources before model fitting, retaining 3313 training images, 119 validation images and 80 test images. Different source names may still show the same physical tray.</a:t>
            </a:r>
          </a:p>
          <a:p xmlns:a="http://schemas.openxmlformats.org/drawingml/2006/main">
            <a:r>
              <a:t>Sources: report section 2, results/dataset_audit.json and prepared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The regression task predicts the number of annotation boxes in each image. It uses RGB colour statistics and local gradients from a small spatial grid. I evaluated linear regression, decision trees, support vector regression and a small neural network, alongside constant baselines. The median model always predicts one defect and had the lowest validation mean absolute error. For localisation, I used pretrained YOLOv8n, a compact convolutional detector, and adapted it to the five classes. Counting and localisation answer different questions.</a:t>
            </a:r>
          </a:p>
          <a:p xmlns:a="http://schemas.openxmlformats.org/drawingml/2006/main">
            <a:r>
              <a:t>Sources: report sections 3 and 4. results/baseline/validation_metrics.csv. Ultralytics https://docs.ultralytics.com/models/yolov8/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Both detector runs used batch size eight and seed 42, with a maximum of 50 epochs and early stopping. The 320 model had slightly better mean average precision across overlap thresholds, although the difference was small and only one seed was tested. The 640 model had slightly better pooled F1 at its own selected threshold. For 320, a validation sweep selected confidence 0.65. The checkpoint and threshold were frozen before final testing. Increasing resolution did not consistently improve results.</a:t>
            </a:r>
          </a:p>
          <a:p xmlns:a="http://schemas.openxmlformats.org/drawingml/2006/main">
            <a:r>
              <a:t>Sources: report sections 4–6. results/detector_validation/frozen_selection.json and 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A correct detection must have the right class and enough box overlap with an unused annotation. On 80 test images, the frozen model produced 37 correct detections and nine false positives, while missing 42 annotations. Precision was 80.4 percent, meaning most retained detections were correct. Recall was 46.8 percent, meaning more than half the actual annotated defects were missed. Unsealed was the strongest class. Zero correct loose-meat and twisted-meat detections are failures, not excluded classes. Wrinkle cannot be assessed because there were no test examples. The detector also lost to the constant baseline for counting.</a:t>
            </a:r>
          </a:p>
          <a:p xmlns:a="http://schemas.openxmlformats.org/drawingml/2006/main">
            <a:r>
              <a:t>Sources: report section 7. results/final_test/summary.json. Matching uses class-aware confidence-ordered one-to-one IoU at least 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These are two selected examples, not a representative sample. The solid green rectangles are supplied annotations. The dashed orange rectangle is a retained model prediction. On the left, the model correctly detected an unsealed region. On the right, it missed a region labelled packaging error. Reflections, partial trays and subtle boundaries could make the task difficult, but we did not measure human accuracy or verify that these factors caused the errors.</a:t>
            </a:r>
          </a:p>
          <a:p xmlns:a="http://schemas.openxmlformats.org/drawingml/2006/main">
            <a:r>
              <a:t>Image credit: Hello, Roboflow Pork Rasher Error Packaging v4, CC BY 4.0. https://universe.roboflow.com/hello-2aqe0/pork-rasher-error-packaging/dataset/4. Annotation/prediction overlays from report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The prototype completed the detection workflow, but its limited recall prevents a claim of reliable automated inspection. A simple baseline was also better for counting. Future work should clarify the annotation definitions, collect rare-class examples, and separate physical trays or recording sessions. AI generated most initial code and prose and helped me obtain results quickly. I ran the GPU experiments, checked outputs through shell commands and personally inspected epoch losses. However, I cannot yet fully explain the network’s internal decisions or the differences between classes. The project showed me the gap between running a model and understanding it.</a:t>
            </a:r>
          </a:p>
          <a:p xmlns:a="http://schemas.openxmlformats.org/drawingml/2006/main">
            <a:r>
              <a:t>Sources: report sections 8 and 9 and the student’s personal 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after the five-minute presentation if asked.</a:t>
            </a:r>
          </a:p>
          <a:p xmlns:a="http://schemas.openxmlformats.org/drawingml/2006/main">
            <a:r>
              <a:t>Precision = 37 / (37 + 9). Recall = 37 / (37 + 42). A false positive can arise from the wrong class, poor box overlap or a duplicate. IoU is intersection area divided by union area. A high confidence is the model score, not a guarantee of correctness. mAP is not the same metric as accuracy or pooled recall. The final test mAP50 is 0.2444 and mAP50–95 is 0.0995.</a:t>
            </a:r>
          </a:p>
          <a:p xmlns:a="http://schemas.openxmlformats.org/drawingml/2006/main">
            <a:r>
              <a:t>Why not keep tuning? The final test has now been inspected, so further selection needs a new validation protocol and independent final data.</a:t>
            </a:r>
          </a:p>
          <a:p xmlns:a="http://schemas.openxmlformats.org/drawingml/2006/main">
            <a:r>
              <a:t>Source: report sections 4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references. No presentation time allocated. Full source details and experiment paths appear in the report.</a:t>
            </a:r>
          </a:p>
          <a:p xmlns:a="http://schemas.openxmlformats.org/drawingml/2006/main">
            <a:br/>
            <a:r>
              <a:t>Dataset: https://universe.roboflow.com/hello-2aqe0/pork-rasher-error-packaging/dataset/4</a:t>
            </a:r>
            <a:br/>
            <a:r>
              <a:t>Model: https://docs.ultralytics.com/models/yolov8/</a:t>
            </a:r>
            <a:br/>
            <a:r>
              <a:t>Training: https://docs.ultralytics.com/modes/train/</a:t>
            </a:r>
            <a:br/>
            <a:r>
              <a:t>Repository: https://github.com/RaccoonNextDoor/MMA3001-Project-33318719</a:t>
            </a:r>
            <a:br/>
            <a:r>
              <a:t>Local results: results/baseline/validation_metrics.csv, results/detector_validation/REVIEW.md, results/final_test/summary.json.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5bb9c4185141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65003ade2a44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8b25e7c80a47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2e93b55f5b43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51aad689f346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9760875b1c46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023D85-BA57-4ABE-A3DC-F799B3B08E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50B49B-9510-463B-9886-45783C7A96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44739E-7178-49D5-AC90-7B3DFE7053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95A3D5-BCD2-4EEA-9B18-47664A6BFB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80D754-C096-4AED-A956-A47998DF31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6963B6-3747-4754-8E23-EEC90E5917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4699E3-2397-4AC0-997E-468618E89B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178D02-1E07-46E6-B3E0-E30E8B031E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B5E644-7A6C-4DB8-B2FB-A9732ED13F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402E11-256A-4C47-82EC-9789B4AB1A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3cf15f1d244d5f" /><Relationship Type="http://schemas.openxmlformats.org/officeDocument/2006/relationships/slideLayout" Target="/ppt/slideLayouts/slideLayout1.xml" Id="R5ee0b78e5669407d" /><Relationship Type="http://schemas.openxmlformats.org/officeDocument/2006/relationships/slideLayout" Target="/ppt/slideLayouts/slideLayout2.xml" Id="R1e72096622d04dd8" /><Relationship Type="http://schemas.openxmlformats.org/officeDocument/2006/relationships/slideLayout" Target="/ppt/slideLayouts/slideLayout3.xml" Id="Rd5f81c71074c4e22" /><Relationship Type="http://schemas.openxmlformats.org/officeDocument/2006/relationships/slideLayout" Target="/ppt/slideLayouts/slideLayout4.xml" Id="Re14ac47c27064a1e" /><Relationship Type="http://schemas.openxmlformats.org/officeDocument/2006/relationships/slideLayout" Target="/ppt/slideLayouts/slideLayout5.xml" Id="Rf0396fde94bf481e" /><Relationship Type="http://schemas.openxmlformats.org/officeDocument/2006/relationships/slideLayout" Target="/ppt/slideLayouts/slideLayout6.xml" Id="R6b132377ce6f42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e0b78e5669407d"/>
    <p:sldLayoutId xmlns:r="http://schemas.openxmlformats.org/officeDocument/2006/relationships" id="2147483650" r:id="R1e72096622d04dd8"/>
    <p:sldLayoutId xmlns:r="http://schemas.openxmlformats.org/officeDocument/2006/relationships" id="2147483651" r:id="Rd5f81c71074c4e22"/>
    <p:sldLayoutId xmlns:r="http://schemas.openxmlformats.org/officeDocument/2006/relationships" id="2147483652" r:id="Re14ac47c27064a1e"/>
    <p:sldLayoutId xmlns:r="http://schemas.openxmlformats.org/officeDocument/2006/relationships" id="2147483653" r:id="Rf0396fde94bf481e"/>
    <p:sldLayoutId xmlns:r="http://schemas.openxmlformats.org/officeDocument/2006/relationships" id="2147483654" r:id="R6b132377ce6f42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d2dda7d9234b9d" /><Relationship Type="http://schemas.openxmlformats.org/officeDocument/2006/relationships/image" Target="/ppt/media/image.jpeg" Id="R64f2b9ecae8b4aa0" /><Relationship Type="http://schemas.openxmlformats.org/officeDocument/2006/relationships/notesSlide" Target="/ppt/notesSlides/notesSlide1.xml" Id="Rad8aa6bd207b4f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fae057d3844ba5" /><Relationship Type="http://schemas.openxmlformats.org/officeDocument/2006/relationships/notesSlide" Target="/ppt/notesSlides/notesSlide2.xml" Id="Rb7c91fad6c9049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c62e14f99640ef" /><Relationship Type="http://schemas.openxmlformats.org/officeDocument/2006/relationships/notesSlide" Target="/ppt/notesSlides/notesSlide3.xml" Id="Rafeb60828fc043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f3dc68addd4129" /><Relationship Type="http://schemas.openxmlformats.org/officeDocument/2006/relationships/notesSlide" Target="/ppt/notesSlides/notesSlide4.xml" Id="Rf1690e74d09747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e58fcea39042c5" /><Relationship Type="http://schemas.openxmlformats.org/officeDocument/2006/relationships/notesSlide" Target="/ppt/notesSlides/notesSlide5.xml" Id="Rf75b1515231549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a5efbb97a34b43" /><Relationship Type="http://schemas.openxmlformats.org/officeDocument/2006/relationships/image" Target="/ppt/media/image.png" Id="Rb3fb984777484daa" /><Relationship Type="http://schemas.openxmlformats.org/officeDocument/2006/relationships/notesSlide" Target="/ppt/notesSlides/notesSlide6.xml" Id="Ra9d3e6cc43474b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2f78f091de4e9e" /><Relationship Type="http://schemas.openxmlformats.org/officeDocument/2006/relationships/notesSlide" Target="/ppt/notesSlides/notesSlide7.xml" Id="R7a5cddec8da04c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93e1d347c74f74" /><Relationship Type="http://schemas.openxmlformats.org/officeDocument/2006/relationships/notesSlide" Target="/ppt/notesSlides/notesSlide8.xml" Id="Rcde02385bd6f4a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95644342e34e22" /><Relationship Type="http://schemas.openxmlformats.org/officeDocument/2006/relationships/notesSlide" Target="/ppt/notesSlides/notesSlide9.xml" Id="Rb3822c7203eb4e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DA063A-ADF3-4524-81B1-632803749A31}"/>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Pork rasher packaging</a:t>
            </a:r>
          </a:p>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defect detection</a:t>
            </a:r>
          </a:p>
        </p:txBody>
      </p:sp>
      <p:sp>
        <p:nvSpPr>
          <p:cNvPr id="2" name="">
            <a:extLst xmlns:a="http://schemas.openxmlformats.org/drawingml/2006/main">
              <a:ext uri="{FF2B5EF4-FFF2-40B4-BE49-F238E27FC236}">
                <a16:creationId xmlns:a16="http://schemas.microsoft.com/office/drawing/2014/main" id="{73721830-8D41-4E8B-898A-1F94A31EC637}"/>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1</a:t>
            </a:r>
          </a:p>
        </p:txBody>
      </p:sp>
      <p:sp>
        <p:nvSpPr>
          <p:cNvPr id="3" name="">
            <a:extLst xmlns:a="http://schemas.openxmlformats.org/drawingml/2006/main">
              <a:ext uri="{FF2B5EF4-FFF2-40B4-BE49-F238E27FC236}">
                <a16:creationId xmlns:a16="http://schemas.microsoft.com/office/drawing/2014/main" id="{8173063E-4212-47C0-A19C-641AAC54C1BC}"/>
              </a:ext>
            </a:extLst>
          </p:cNvPr>
          <p:cNvSpPr>
            <a:spLocks xmlns:a="http://schemas.openxmlformats.org/drawingml/2006/main" noGrp="1"/>
          </p:cNvSpPr>
          <p:nvPr/>
        </p:nvSpPr>
        <p:spPr>
          <a:xfrm xmlns:a="http://schemas.openxmlformats.org/drawingml/2006/main">
            <a:off x="609600" y="19050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36E"/>
                </a:solidFill>
                <a:latin typeface="DejaVu Sans"/>
                <a:ea typeface="DejaVu Sans"/>
                <a:cs typeface="DejaVu Sans"/>
              </a:defRPr>
            </a:defPPr>
          </a:lstStyle>
          <a:p xmlns:a="http://schemas.openxmlformats.org/drawingml/2006/main">
            <a:pPr>
              <a:defRPr sz="1950" b="0">
                <a:solidFill>
                  <a:srgbClr val="52636E"/>
                </a:solidFill>
                <a:latin typeface="DejaVu Sans"/>
                <a:ea typeface="DejaVu Sans"/>
                <a:cs typeface="DejaVu Sans"/>
              </a:defRPr>
            </a:pPr>
            <a:r>
              <a:rPr sz="1950" b="0">
                <a:solidFill>
                  <a:srgbClr val="52636E"/>
                </a:solidFill>
                <a:latin typeface="DejaVu Sans"/>
                <a:ea typeface="DejaVu Sans"/>
                <a:cs typeface="DejaVu Sans"/>
              </a:rPr>
              <a:t>MMA3001</a:t>
            </a:r>
          </a:p>
          <a:p xmlns:a="http://schemas.openxmlformats.org/drawingml/2006/main">
            <a:pPr>
              <a:defRPr sz="1950" b="0">
                <a:solidFill>
                  <a:srgbClr val="52636E"/>
                </a:solidFill>
                <a:latin typeface="DejaVu Sans"/>
                <a:ea typeface="DejaVu Sans"/>
                <a:cs typeface="DejaVu Sans"/>
              </a:defRPr>
            </a:pPr>
            <a:r>
              <a:rPr sz="1950" b="0">
                <a:solidFill>
                  <a:srgbClr val="52636E"/>
                </a:solidFill>
                <a:latin typeface="DejaVu Sans"/>
                <a:ea typeface="DejaVu Sans"/>
                <a:cs typeface="DejaVu Sans"/>
              </a:rPr>
              <a:t>Student ID 33318719</a:t>
            </a:r>
          </a:p>
          <a:p xmlns:a="http://schemas.openxmlformats.org/drawingml/2006/main">
            <a:pPr>
              <a:defRPr sz="1950" b="0">
                <a:solidFill>
                  <a:srgbClr val="52636E"/>
                </a:solidFill>
                <a:latin typeface="DejaVu Sans"/>
                <a:ea typeface="DejaVu Sans"/>
                <a:cs typeface="DejaVu Sans"/>
              </a:defRPr>
            </a:pPr>
            <a:r>
              <a:rPr sz="1950" b="0">
                <a:solidFill>
                  <a:srgbClr val="52636E"/>
                </a:solidFill>
                <a:latin typeface="DejaVu Sans"/>
                <a:ea typeface="DejaVu Sans"/>
                <a:cs typeface="DejaVu Sans"/>
              </a:rPr>
              <a:t>10 October 2026</a:t>
            </a:r>
          </a:p>
        </p:txBody>
      </p:sp>
      <p:sp>
        <p:nvSpPr>
          <p:cNvPr id="4" name="">
            <a:extLst xmlns:a="http://schemas.openxmlformats.org/drawingml/2006/main">
              <a:ext uri="{FF2B5EF4-FFF2-40B4-BE49-F238E27FC236}">
                <a16:creationId xmlns:a16="http://schemas.microsoft.com/office/drawing/2014/main" id="{0934B58A-989B-4A89-9949-956C847734F3}"/>
              </a:ext>
            </a:extLst>
          </p:cNvPr>
          <p:cNvSpPr>
            <a:spLocks xmlns:a="http://schemas.openxmlformats.org/drawingml/2006/main" noGrp="1"/>
          </p:cNvSpPr>
          <p:nvPr/>
        </p:nvSpPr>
        <p:spPr>
          <a:xfrm xmlns:a="http://schemas.openxmlformats.org/drawingml/2006/main">
            <a:off x="609600" y="404812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6885"/>
                </a:solidFill>
                <a:latin typeface="DejaVu Sans"/>
                <a:ea typeface="DejaVu Sans"/>
                <a:cs typeface="DejaVu Sans"/>
              </a:defRPr>
            </a:defPPr>
          </a:lstStyle>
          <a:p xmlns:a="http://schemas.openxmlformats.org/drawingml/2006/main">
            <a:pPr>
              <a:defRPr sz="2550" b="1">
                <a:solidFill>
                  <a:srgbClr val="246885"/>
                </a:solidFill>
                <a:latin typeface="DejaVu Sans"/>
                <a:ea typeface="DejaVu Sans"/>
                <a:cs typeface="DejaVu Sans"/>
              </a:defRPr>
            </a:pPr>
            <a:r>
              <a:rPr sz="2550" b="1">
                <a:solidFill>
                  <a:srgbClr val="246885"/>
                </a:solidFill>
                <a:latin typeface="DejaVu Sans"/>
                <a:ea typeface="DejaVu Sans"/>
                <a:cs typeface="DejaVu Sans"/>
              </a:rPr>
              <a:t>Automated inspection of visible defects</a:t>
            </a:r>
          </a:p>
        </p:txBody>
      </p:sp>
      <p:pic>
        <p:nvPicPr>
          <p:cNvPr id="5" name="">
            <a:extLst xmlns:a="http://schemas.openxmlformats.org/drawingml/2006/main">
              <a:ext uri="{FF2B5EF4-FFF2-40B4-BE49-F238E27FC236}">
                <a16:creationId xmlns:a16="http://schemas.microsoft.com/office/drawing/2014/main" id="{D74480DD-03C0-455C-A8C7-FCC9E1BFBFCA}"/>
              </a:ext>
            </a:extLst>
          </p:cNvPr>
          <p:cNvPicPr>
            <a:picLocks xmlns:a="http://schemas.openxmlformats.org/drawingml/2006/main" noChangeAspect="1"/>
          </p:cNvPicPr>
          <p:nvPr/>
        </p:nvPicPr>
        <p:blipFill>
          <a:blip xmlns:r="http://schemas.openxmlformats.org/officeDocument/2006/relationships" xmlns:a="http://schemas.openxmlformats.org/drawingml/2006/main" r:embed="R64f2b9ecae8b4aa0"/>
          <a:stretch xmlns:a="http://schemas.openxmlformats.org/drawingml/2006/main"/>
        </p:blipFill>
        <p:spPr>
          <a:xfrm xmlns:a="http://schemas.openxmlformats.org/drawingml/2006/main">
            <a:off x="5953125" y="1905000"/>
            <a:ext cx="5524500" cy="4143375"/>
          </a:xfrm>
          <a:prstGeom xmlns:a="http://schemas.openxmlformats.org/drawingml/2006/main" prst="rect">
            <a:avLst/>
          </a:prstGeom>
        </p:spPr>
      </p:pic>
    </p:spTree>
    <p:extLst>
      <p:ext uri="{BB962C8B-B14F-4D97-AF65-F5344CB8AC3E}">
        <p14:creationId xmlns:p14="http://schemas.microsoft.com/office/powerpoint/2010/main" val="16643165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DB1908-2446-4A9A-8969-1526CF25FE58}"/>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Dataset and task</a:t>
            </a:r>
          </a:p>
        </p:txBody>
      </p:sp>
      <p:sp>
        <p:nvSpPr>
          <p:cNvPr id="2" name="">
            <a:extLst xmlns:a="http://schemas.openxmlformats.org/drawingml/2006/main">
              <a:ext uri="{FF2B5EF4-FFF2-40B4-BE49-F238E27FC236}">
                <a16:creationId xmlns:a16="http://schemas.microsoft.com/office/drawing/2014/main" id="{27AFBD4C-B78C-45D1-8276-3D4E9D648E69}"/>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2</a:t>
            </a:r>
          </a:p>
        </p:txBody>
      </p:sp>
      <p:sp>
        <p:nvSpPr>
          <p:cNvPr id="3" name="">
            <a:extLst xmlns:a="http://schemas.openxmlformats.org/drawingml/2006/main">
              <a:ext uri="{FF2B5EF4-FFF2-40B4-BE49-F238E27FC236}">
                <a16:creationId xmlns:a16="http://schemas.microsoft.com/office/drawing/2014/main" id="{A370D699-43F2-4091-81F3-7171CA252ACF}"/>
              </a:ext>
            </a:extLst>
          </p:cNvPr>
          <p:cNvSpPr>
            <a:spLocks xmlns:a="http://schemas.openxmlformats.org/drawingml/2006/main" noGrp="1"/>
          </p:cNvSpPr>
          <p:nvPr/>
        </p:nvSpPr>
        <p:spPr>
          <a:xfrm xmlns:a="http://schemas.openxmlformats.org/drawingml/2006/main">
            <a:off x="609600" y="1571625"/>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46885"/>
                </a:solidFill>
                <a:latin typeface="DejaVu Sans"/>
                <a:ea typeface="DejaVu Sans"/>
                <a:cs typeface="DejaVu Sans"/>
              </a:defRPr>
            </a:defPPr>
          </a:lstStyle>
          <a:p xmlns:a="http://schemas.openxmlformats.org/drawingml/2006/main">
            <a:pPr>
              <a:defRPr sz="2250" b="1">
                <a:solidFill>
                  <a:srgbClr val="246885"/>
                </a:solidFill>
                <a:latin typeface="DejaVu Sans"/>
                <a:ea typeface="DejaVu Sans"/>
                <a:cs typeface="DejaVu Sans"/>
              </a:defRPr>
            </a:pPr>
            <a:r>
              <a:rPr sz="2250" b="1">
                <a:solidFill>
                  <a:srgbClr val="246885"/>
                </a:solidFill>
                <a:latin typeface="DejaVu Sans"/>
                <a:ea typeface="DejaVu Sans"/>
                <a:cs typeface="DejaVu Sans"/>
              </a:rPr>
              <a:t>Five classes in training</a:t>
            </a:r>
          </a:p>
        </p:txBody>
      </p:sp>
      <p:sp>
        <p:nvSpPr>
          <p:cNvPr id="4" name="">
            <a:extLst xmlns:a="http://schemas.openxmlformats.org/drawingml/2006/main">
              <a:ext uri="{FF2B5EF4-FFF2-40B4-BE49-F238E27FC236}">
                <a16:creationId xmlns:a16="http://schemas.microsoft.com/office/drawing/2014/main" id="{ACF629D3-460B-473F-9681-06AFB255884A}"/>
              </a:ext>
            </a:extLst>
          </p:cNvPr>
          <p:cNvSpPr>
            <a:spLocks xmlns:a="http://schemas.openxmlformats.org/drawingml/2006/main" noGrp="1"/>
          </p:cNvSpPr>
          <p:nvPr/>
        </p:nvSpPr>
        <p:spPr>
          <a:xfrm xmlns:a="http://schemas.openxmlformats.org/drawingml/2006/main">
            <a:off x="609600" y="219075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2B3A"/>
                </a:solidFill>
                <a:latin typeface="DejaVu Sans"/>
                <a:ea typeface="DejaVu Sans"/>
                <a:cs typeface="DejaVu Sans"/>
              </a:defRPr>
            </a:defPPr>
          </a:lstStyle>
          <a:p xmlns:a="http://schemas.openxmlformats.org/drawingml/2006/main">
            <a:pPr>
              <a:defRPr sz="2325" b="0">
                <a:solidFill>
                  <a:srgbClr val="162B3A"/>
                </a:solidFill>
                <a:latin typeface="DejaVu Sans"/>
                <a:ea typeface="DejaVu Sans"/>
                <a:cs typeface="DejaVu Sans"/>
              </a:defRPr>
            </a:pPr>
            <a:r>
              <a:rPr sz="2325" b="0">
                <a:solidFill>
                  <a:srgbClr val="162B3A"/>
                </a:solidFill>
                <a:latin typeface="DejaVu Sans"/>
                <a:ea typeface="DejaVu Sans"/>
                <a:cs typeface="DejaVu Sans"/>
              </a:rPr>
              <a:t>Loose meat</a:t>
            </a:r>
          </a:p>
          <a:p xmlns:a="http://schemas.openxmlformats.org/drawingml/2006/main">
            <a:pPr>
              <a:defRPr sz="2325" b="0">
                <a:solidFill>
                  <a:srgbClr val="162B3A"/>
                </a:solidFill>
                <a:latin typeface="DejaVu Sans"/>
                <a:ea typeface="DejaVu Sans"/>
                <a:cs typeface="DejaVu Sans"/>
              </a:defRPr>
            </a:pPr>
            <a:r>
              <a:rPr sz="2325" b="0">
                <a:solidFill>
                  <a:srgbClr val="162B3A"/>
                </a:solidFill>
                <a:latin typeface="DejaVu Sans"/>
                <a:ea typeface="DejaVu Sans"/>
                <a:cs typeface="DejaVu Sans"/>
              </a:rPr>
              <a:t>Twisted meat</a:t>
            </a:r>
          </a:p>
          <a:p xmlns:a="http://schemas.openxmlformats.org/drawingml/2006/main">
            <a:pPr>
              <a:defRPr sz="2325" b="0">
                <a:solidFill>
                  <a:srgbClr val="162B3A"/>
                </a:solidFill>
                <a:latin typeface="DejaVu Sans"/>
                <a:ea typeface="DejaVu Sans"/>
                <a:cs typeface="DejaVu Sans"/>
              </a:defRPr>
            </a:pPr>
            <a:r>
              <a:rPr sz="2325" b="0">
                <a:solidFill>
                  <a:srgbClr val="162B3A"/>
                </a:solidFill>
                <a:latin typeface="DejaVu Sans"/>
                <a:ea typeface="DejaVu Sans"/>
                <a:cs typeface="DejaVu Sans"/>
              </a:rPr>
              <a:t>Packaging error</a:t>
            </a:r>
          </a:p>
          <a:p xmlns:a="http://schemas.openxmlformats.org/drawingml/2006/main">
            <a:pPr>
              <a:defRPr sz="2325" b="0">
                <a:solidFill>
                  <a:srgbClr val="162B3A"/>
                </a:solidFill>
                <a:latin typeface="DejaVu Sans"/>
                <a:ea typeface="DejaVu Sans"/>
                <a:cs typeface="DejaVu Sans"/>
              </a:defRPr>
            </a:pPr>
            <a:r>
              <a:rPr sz="2325" b="0">
                <a:solidFill>
                  <a:srgbClr val="162B3A"/>
                </a:solidFill>
                <a:latin typeface="DejaVu Sans"/>
                <a:ea typeface="DejaVu Sans"/>
                <a:cs typeface="DejaVu Sans"/>
              </a:rPr>
              <a:t>Unsealed</a:t>
            </a:r>
          </a:p>
          <a:p xmlns:a="http://schemas.openxmlformats.org/drawingml/2006/main">
            <a:pPr>
              <a:defRPr sz="2325" b="0">
                <a:solidFill>
                  <a:srgbClr val="162B3A"/>
                </a:solidFill>
                <a:latin typeface="DejaVu Sans"/>
                <a:ea typeface="DejaVu Sans"/>
                <a:cs typeface="DejaVu Sans"/>
              </a:defRPr>
            </a:pPr>
            <a:r>
              <a:rPr sz="2325" b="0">
                <a:solidFill>
                  <a:srgbClr val="162B3A"/>
                </a:solidFill>
                <a:latin typeface="DejaVu Sans"/>
                <a:ea typeface="DejaVu Sans"/>
                <a:cs typeface="DejaVu Sans"/>
              </a:rPr>
              <a:t>Wrinkle</a:t>
            </a:r>
          </a:p>
        </p:txBody>
      </p:sp>
      <p:graphicFrame>
        <p:nvGraphicFramePr>
          <p:cNvPr id="5" name="">
            <a:extLst xmlns:a="http://schemas.openxmlformats.org/drawingml/2006/main">
              <a:ext uri="{FF2B5EF4-FFF2-40B4-BE49-F238E27FC236}">
                <a16:creationId xmlns:a16="http://schemas.microsoft.com/office/drawing/2014/main" id="{ABC80BA6-A4B3-4152-B046-265A33C8DA96}"/>
              </a:ext>
            </a:extLst>
          </p:cNvPr>
          <p:cNvGraphicFramePr/>
          <p:nvPr/>
        </p:nvGraphicFramePr>
        <p:xfrm>
          <a:off xmlns:a="http://schemas.openxmlformats.org/drawingml/2006/main" x="6381750" y="1714500"/>
          <a:ext xmlns:a="http://schemas.openxmlformats.org/drawingml/2006/main" cx="5048250" cy="2571750"/>
        </p:xfrm>
        <a:graphic xmlns:a="http://schemas.openxmlformats.org/drawingml/2006/main">
          <a:graphicData uri="http://schemas.openxmlformats.org/drawingml/2006/table">
            <a:tbl>
              <a:tblPr/>
              <a:tblGrid>
                <a:gridCol w="3143250"/>
                <a:gridCol w="1905000"/>
              </a:tblGrid>
              <a:tr h="642938">
                <a:tc>
                  <a:txBody>
                    <a:bodyPr/>
                    <a:lstStyle/>
                    <a:p>
                      <a:r>
                        <a:rPr sz="1875" b="1">
                          <a:solidFill>
                            <a:srgbClr val="162B3A"/>
                          </a:solidFill>
                          <a:latin typeface="DejaVu Sans"/>
                          <a:ea typeface="DejaVu Sans"/>
                          <a:cs typeface="DejaVu Sans"/>
                        </a:rPr>
                        <a:t>Split</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Images</a:t>
                      </a:r>
                    </a:p>
                  </a:txBody>
                  <a:tcPr marL="91440" marR="91440" marT="45720" marB="45720">
                    <a:solidFill>
                      <a:srgbClr val="E8EFF2"/>
                    </a:solidFill>
                  </a:tcPr>
                </a:tc>
              </a:tr>
              <a:tr h="642938">
                <a:tc>
                  <a:txBody>
                    <a:bodyPr/>
                    <a:lstStyle/>
                    <a:p>
                      <a:r>
                        <a:rPr sz="1875" b="0">
                          <a:solidFill>
                            <a:srgbClr val="162B3A"/>
                          </a:solidFill>
                          <a:latin typeface="DejaVu Sans"/>
                          <a:ea typeface="DejaVu Sans"/>
                          <a:cs typeface="DejaVu Sans"/>
                        </a:rPr>
                        <a:t>Training</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3,313</a:t>
                      </a:r>
                    </a:p>
                  </a:txBody>
                  <a:tcPr marL="91440" marR="91440" marT="45720" marB="45720">
                    <a:solidFill>
                      <a:srgbClr val="FFFFFF"/>
                    </a:solidFill>
                  </a:tcPr>
                </a:tc>
              </a:tr>
              <a:tr h="642938">
                <a:tc>
                  <a:txBody>
                    <a:bodyPr/>
                    <a:lstStyle/>
                    <a:p>
                      <a:r>
                        <a:rPr sz="1875" b="0">
                          <a:solidFill>
                            <a:srgbClr val="162B3A"/>
                          </a:solidFill>
                          <a:latin typeface="DejaVu Sans"/>
                          <a:ea typeface="DejaVu Sans"/>
                          <a:cs typeface="DejaVu Sans"/>
                        </a:rPr>
                        <a:t>Validation</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119</a:t>
                      </a:r>
                    </a:p>
                  </a:txBody>
                  <a:tcPr marL="91440" marR="91440" marT="45720" marB="45720">
                    <a:solidFill>
                      <a:srgbClr val="FFFFFF"/>
                    </a:solidFill>
                  </a:tcPr>
                </a:tc>
              </a:tr>
              <a:tr h="642938">
                <a:tc>
                  <a:txBody>
                    <a:bodyPr/>
                    <a:lstStyle/>
                    <a:p>
                      <a:r>
                        <a:rPr sz="1875" b="0">
                          <a:solidFill>
                            <a:srgbClr val="162B3A"/>
                          </a:solidFill>
                          <a:latin typeface="DejaVu Sans"/>
                          <a:ea typeface="DejaVu Sans"/>
                          <a:cs typeface="DejaVu Sans"/>
                        </a:rPr>
                        <a:t>Test</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80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9ADE6F4-28A5-47E4-85E5-72321113257B}"/>
              </a:ext>
            </a:extLst>
          </p:cNvPr>
          <p:cNvSpPr>
            <a:spLocks xmlns:a="http://schemas.openxmlformats.org/drawingml/2006/main" noGrp="1"/>
          </p:cNvSpPr>
          <p:nvPr/>
        </p:nvSpPr>
        <p:spPr>
          <a:xfrm xmlns:a="http://schemas.openxmlformats.org/drawingml/2006/main">
            <a:off x="6381750" y="4619625"/>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36E"/>
                </a:solidFill>
                <a:latin typeface="DejaVu Sans"/>
                <a:ea typeface="DejaVu Sans"/>
                <a:cs typeface="DejaVu Sans"/>
              </a:defRPr>
            </a:defPPr>
          </a:lstStyle>
          <a:p xmlns:a="http://schemas.openxmlformats.org/drawingml/2006/main">
            <a:pPr>
              <a:defRPr sz="1725" b="0">
                <a:solidFill>
                  <a:srgbClr val="52636E"/>
                </a:solidFill>
                <a:latin typeface="DejaVu Sans"/>
                <a:ea typeface="DejaVu Sans"/>
                <a:cs typeface="DejaVu Sans"/>
              </a:defRPr>
            </a:pPr>
            <a:r>
              <a:rPr sz="1725" b="0">
                <a:solidFill>
                  <a:srgbClr val="52636E"/>
                </a:solidFill>
                <a:latin typeface="DejaVu Sans"/>
                <a:ea typeface="DejaVu Sans"/>
                <a:cs typeface="DejaVu Sans"/>
              </a:rPr>
              <a:t>37 images excluded during cleaning</a:t>
            </a:r>
          </a:p>
          <a:p xmlns:a="http://schemas.openxmlformats.org/drawingml/2006/main">
            <a:pPr>
              <a:defRPr sz="1725" b="0">
                <a:solidFill>
                  <a:srgbClr val="52636E"/>
                </a:solidFill>
                <a:latin typeface="DejaVu Sans"/>
                <a:ea typeface="DejaVu Sans"/>
                <a:cs typeface="DejaVu Sans"/>
              </a:defRPr>
            </a:pPr>
            <a:r>
              <a:rPr sz="1725" b="0">
                <a:solidFill>
                  <a:srgbClr val="52636E"/>
                </a:solidFill>
                <a:latin typeface="DejaVu Sans"/>
                <a:ea typeface="DejaVu Sans"/>
                <a:cs typeface="DejaVu Sans"/>
              </a:rPr>
              <a:t>Source groups do not overlap across splits</a:t>
            </a:r>
          </a:p>
          <a:p xmlns:a="http://schemas.openxmlformats.org/drawingml/2006/main">
            <a:pPr>
              <a:defRPr sz="1725" b="0">
                <a:solidFill>
                  <a:srgbClr val="52636E"/>
                </a:solidFill>
                <a:latin typeface="DejaVu Sans"/>
                <a:ea typeface="DejaVu Sans"/>
                <a:cs typeface="DejaVu Sans"/>
              </a:defRPr>
            </a:pPr>
            <a:r>
              <a:rPr sz="1725" b="0">
                <a:solidFill>
                  <a:srgbClr val="52636E"/>
                </a:solidFill>
                <a:latin typeface="DejaVu Sans"/>
                <a:ea typeface="DejaVu Sans"/>
                <a:cs typeface="DejaVu Sans"/>
              </a:rPr>
              <a:t>Physical tray independence remains unknown</a:t>
            </a:r>
          </a:p>
        </p:txBody>
      </p:sp>
    </p:spTree>
    <p:extLst>
      <p:ext uri="{BB962C8B-B14F-4D97-AF65-F5344CB8AC3E}">
        <p14:creationId xmlns:p14="http://schemas.microsoft.com/office/powerpoint/2010/main" val="19748982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FEC505-C934-4D3C-9702-C7DBCD8E5894}"/>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Regression baseline and object detection</a:t>
            </a:r>
          </a:p>
        </p:txBody>
      </p:sp>
      <p:sp>
        <p:nvSpPr>
          <p:cNvPr id="2" name="">
            <a:extLst xmlns:a="http://schemas.openxmlformats.org/drawingml/2006/main">
              <a:ext uri="{FF2B5EF4-FFF2-40B4-BE49-F238E27FC236}">
                <a16:creationId xmlns:a16="http://schemas.microsoft.com/office/drawing/2014/main" id="{4E7F4935-0640-4D4D-ADF2-538A91076E5B}"/>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3</a:t>
            </a:r>
          </a:p>
        </p:txBody>
      </p:sp>
      <p:sp>
        <p:nvSpPr>
          <p:cNvPr id="3" name="">
            <a:extLst xmlns:a="http://schemas.openxmlformats.org/drawingml/2006/main">
              <a:ext uri="{FF2B5EF4-FFF2-40B4-BE49-F238E27FC236}">
                <a16:creationId xmlns:a16="http://schemas.microsoft.com/office/drawing/2014/main" id="{0505C22E-2071-443A-8A5E-E9C1ED824A84}"/>
              </a:ext>
            </a:extLst>
          </p:cNvPr>
          <p:cNvSpPr>
            <a:spLocks xmlns:a="http://schemas.openxmlformats.org/drawingml/2006/main" noGrp="1"/>
          </p:cNvSpPr>
          <p:nvPr/>
        </p:nvSpPr>
        <p:spPr>
          <a:xfrm xmlns:a="http://schemas.openxmlformats.org/drawingml/2006/main">
            <a:off x="609600" y="14763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6885"/>
                </a:solidFill>
                <a:latin typeface="DejaVu Sans"/>
                <a:ea typeface="DejaVu Sans"/>
                <a:cs typeface="DejaVu Sans"/>
              </a:defRPr>
            </a:defPPr>
          </a:lstStyle>
          <a:p xmlns:a="http://schemas.openxmlformats.org/drawingml/2006/main">
            <a:pPr>
              <a:defRPr sz="2400" b="1">
                <a:solidFill>
                  <a:srgbClr val="246885"/>
                </a:solidFill>
                <a:latin typeface="DejaVu Sans"/>
                <a:ea typeface="DejaVu Sans"/>
                <a:cs typeface="DejaVu Sans"/>
              </a:defRPr>
            </a:pPr>
            <a:r>
              <a:rPr sz="2400" b="1">
                <a:solidFill>
                  <a:srgbClr val="246885"/>
                </a:solidFill>
                <a:latin typeface="DejaVu Sans"/>
                <a:ea typeface="DejaVu Sans"/>
                <a:cs typeface="DejaVu Sans"/>
              </a:rPr>
              <a:t>Count prediction</a:t>
            </a:r>
          </a:p>
        </p:txBody>
      </p:sp>
      <p:graphicFrame>
        <p:nvGraphicFramePr>
          <p:cNvPr id="4" name="">
            <a:extLst xmlns:a="http://schemas.openxmlformats.org/drawingml/2006/main">
              <a:ext uri="{FF2B5EF4-FFF2-40B4-BE49-F238E27FC236}">
                <a16:creationId xmlns:a16="http://schemas.microsoft.com/office/drawing/2014/main" id="{89E4C235-2B4E-4B6A-BA93-56A753E4F737}"/>
              </a:ext>
            </a:extLst>
          </p:cNvPr>
          <p:cNvGraphicFramePr/>
          <p:nvPr/>
        </p:nvGraphicFramePr>
        <p:xfrm>
          <a:off xmlns:a="http://schemas.openxmlformats.org/drawingml/2006/main" x="609600" y="2143125"/>
          <a:ext xmlns:a="http://schemas.openxmlformats.org/drawingml/2006/main" cx="5810250" cy="3238500"/>
        </p:xfrm>
        <a:graphic xmlns:a="http://schemas.openxmlformats.org/drawingml/2006/main">
          <a:graphicData uri="http://schemas.openxmlformats.org/drawingml/2006/table">
            <a:tbl>
              <a:tblPr/>
              <a:tblGrid>
                <a:gridCol w="3714750"/>
                <a:gridCol w="2095500"/>
              </a:tblGrid>
              <a:tr h="539750">
                <a:tc>
                  <a:txBody>
                    <a:bodyPr/>
                    <a:lstStyle/>
                    <a:p>
                      <a:r>
                        <a:rPr sz="1875" b="1">
                          <a:solidFill>
                            <a:srgbClr val="162B3A"/>
                          </a:solidFill>
                          <a:latin typeface="DejaVu Sans"/>
                          <a:ea typeface="DejaVu Sans"/>
                          <a:cs typeface="DejaVu Sans"/>
                        </a:rPr>
                        <a:t>Best in family</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Validation MAE</a:t>
                      </a:r>
                    </a:p>
                  </a:txBody>
                  <a:tcPr marL="91440" marR="91440" marT="45720" marB="45720">
                    <a:solidFill>
                      <a:srgbClr val="E8EFF2"/>
                    </a:solidFill>
                  </a:tcPr>
                </a:tc>
              </a:tr>
              <a:tr h="539750">
                <a:tc>
                  <a:txBody>
                    <a:bodyPr/>
                    <a:lstStyle/>
                    <a:p>
                      <a:r>
                        <a:rPr sz="1875" b="0">
                          <a:solidFill>
                            <a:srgbClr val="162B3A"/>
                          </a:solidFill>
                          <a:latin typeface="DejaVu Sans"/>
                          <a:ea typeface="DejaVu Sans"/>
                          <a:cs typeface="DejaVu Sans"/>
                        </a:rPr>
                        <a:t>Median constant</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0.2437</a:t>
                      </a:r>
                    </a:p>
                  </a:txBody>
                  <a:tcPr marL="91440" marR="91440" marT="45720" marB="45720">
                    <a:solidFill>
                      <a:srgbClr val="FFFFFF"/>
                    </a:solidFill>
                  </a:tcPr>
                </a:tc>
              </a:tr>
              <a:tr h="539750">
                <a:tc>
                  <a:txBody>
                    <a:bodyPr/>
                    <a:lstStyle/>
                    <a:p>
                      <a:r>
                        <a:rPr sz="1875" b="0">
                          <a:solidFill>
                            <a:srgbClr val="162B3A"/>
                          </a:solidFill>
                          <a:latin typeface="DejaVu Sans"/>
                          <a:ea typeface="DejaVu Sans"/>
                          <a:cs typeface="DejaVu Sans"/>
                        </a:rPr>
                        <a:t>SVR</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0.2982</a:t>
                      </a:r>
                    </a:p>
                  </a:txBody>
                  <a:tcPr marL="91440" marR="91440" marT="45720" marB="45720">
                    <a:solidFill>
                      <a:srgbClr val="FFFFFF"/>
                    </a:solidFill>
                  </a:tcPr>
                </a:tc>
              </a:tr>
              <a:tr h="539750">
                <a:tc>
                  <a:txBody>
                    <a:bodyPr/>
                    <a:lstStyle/>
                    <a:p>
                      <a:r>
                        <a:rPr sz="1875" b="0">
                          <a:solidFill>
                            <a:srgbClr val="162B3A"/>
                          </a:solidFill>
                          <a:latin typeface="DejaVu Sans"/>
                          <a:ea typeface="DejaVu Sans"/>
                          <a:cs typeface="DejaVu Sans"/>
                        </a:rPr>
                        <a:t>Decision tree</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0.3046</a:t>
                      </a:r>
                    </a:p>
                  </a:txBody>
                  <a:tcPr marL="91440" marR="91440" marT="45720" marB="45720">
                    <a:solidFill>
                      <a:srgbClr val="FFFFFF"/>
                    </a:solidFill>
                  </a:tcPr>
                </a:tc>
              </a:tr>
              <a:tr h="539750">
                <a:tc>
                  <a:txBody>
                    <a:bodyPr/>
                    <a:lstStyle/>
                    <a:p>
                      <a:r>
                        <a:rPr sz="1875" b="0">
                          <a:solidFill>
                            <a:srgbClr val="162B3A"/>
                          </a:solidFill>
                          <a:latin typeface="DejaVu Sans"/>
                          <a:ea typeface="DejaVu Sans"/>
                          <a:cs typeface="DejaVu Sans"/>
                        </a:rPr>
                        <a:t>Linear regression</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0.3261</a:t>
                      </a:r>
                    </a:p>
                  </a:txBody>
                  <a:tcPr marL="91440" marR="91440" marT="45720" marB="45720">
                    <a:solidFill>
                      <a:srgbClr val="FFFFFF"/>
                    </a:solidFill>
                  </a:tcPr>
                </a:tc>
              </a:tr>
              <a:tr h="539750">
                <a:tc>
                  <a:txBody>
                    <a:bodyPr/>
                    <a:lstStyle/>
                    <a:p>
                      <a:r>
                        <a:rPr sz="1875" b="0">
                          <a:solidFill>
                            <a:srgbClr val="162B3A"/>
                          </a:solidFill>
                          <a:latin typeface="DejaVu Sans"/>
                          <a:ea typeface="DejaVu Sans"/>
                          <a:cs typeface="DejaVu Sans"/>
                        </a:rPr>
                        <a:t>Neural network</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0.3421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1BBA72-2ABA-4178-97FF-C1872F91FD89}"/>
              </a:ext>
            </a:extLst>
          </p:cNvPr>
          <p:cNvSpPr>
            <a:spLocks xmlns:a="http://schemas.openxmlformats.org/drawingml/2006/main" noGrp="1"/>
          </p:cNvSpPr>
          <p:nvPr/>
        </p:nvSpPr>
        <p:spPr>
          <a:xfrm xmlns:a="http://schemas.openxmlformats.org/drawingml/2006/main">
            <a:off x="7143750" y="147637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6885"/>
                </a:solidFill>
                <a:latin typeface="DejaVu Sans"/>
                <a:ea typeface="DejaVu Sans"/>
                <a:cs typeface="DejaVu Sans"/>
              </a:defRPr>
            </a:defPPr>
          </a:lstStyle>
          <a:p xmlns:a="http://schemas.openxmlformats.org/drawingml/2006/main">
            <a:pPr>
              <a:defRPr sz="2400" b="1">
                <a:solidFill>
                  <a:srgbClr val="246885"/>
                </a:solidFill>
                <a:latin typeface="DejaVu Sans"/>
                <a:ea typeface="DejaVu Sans"/>
                <a:cs typeface="DejaVu Sans"/>
              </a:defRPr>
            </a:pPr>
            <a:r>
              <a:rPr sz="2400" b="1">
                <a:solidFill>
                  <a:srgbClr val="246885"/>
                </a:solidFill>
                <a:latin typeface="DejaVu Sans"/>
                <a:ea typeface="DejaVu Sans"/>
                <a:cs typeface="DejaVu Sans"/>
              </a:rPr>
              <a:t>Defect localisation</a:t>
            </a:r>
          </a:p>
        </p:txBody>
      </p:sp>
      <p:sp>
        <p:nvSpPr>
          <p:cNvPr id="6" name="">
            <a:extLst xmlns:a="http://schemas.openxmlformats.org/drawingml/2006/main">
              <a:ext uri="{FF2B5EF4-FFF2-40B4-BE49-F238E27FC236}">
                <a16:creationId xmlns:a16="http://schemas.microsoft.com/office/drawing/2014/main" id="{C79E9C17-49AB-4339-9DB1-50EB0F9788A8}"/>
              </a:ext>
            </a:extLst>
          </p:cNvPr>
          <p:cNvSpPr>
            <a:spLocks xmlns:a="http://schemas.openxmlformats.org/drawingml/2006/main" noGrp="1"/>
          </p:cNvSpPr>
          <p:nvPr/>
        </p:nvSpPr>
        <p:spPr>
          <a:xfrm xmlns:a="http://schemas.openxmlformats.org/drawingml/2006/main">
            <a:off x="7143750" y="2190750"/>
            <a:ext cx="4286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B3A"/>
                </a:solidFill>
                <a:latin typeface="DejaVu Sans"/>
                <a:ea typeface="DejaVu Sans"/>
                <a:cs typeface="DejaVu Sans"/>
              </a:defRPr>
            </a:defPPr>
          </a:lstStyle>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Pretrained YOLOv8n</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Learns image features and predicts boxes with class scores</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Two input sizes: 320 and 640 pixels</a:t>
            </a:r>
          </a:p>
        </p:txBody>
      </p:sp>
      <p:sp>
        <p:nvSpPr>
          <p:cNvPr id="7" name="">
            <a:extLst xmlns:a="http://schemas.openxmlformats.org/drawingml/2006/main">
              <a:ext uri="{FF2B5EF4-FFF2-40B4-BE49-F238E27FC236}">
                <a16:creationId xmlns:a16="http://schemas.microsoft.com/office/drawing/2014/main" id="{7FA29B1E-FDDE-4FAE-9569-90749AD7F92D}"/>
              </a:ext>
            </a:extLst>
          </p:cNvPr>
          <p:cNvSpPr>
            <a:spLocks xmlns:a="http://schemas.openxmlformats.org/drawingml/2006/main" noGrp="1"/>
          </p:cNvSpPr>
          <p:nvPr/>
        </p:nvSpPr>
        <p:spPr>
          <a:xfrm xmlns:a="http://schemas.openxmlformats.org/drawingml/2006/main">
            <a:off x="609600" y="5857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36E"/>
                </a:solidFill>
                <a:latin typeface="DejaVu Sans"/>
                <a:ea typeface="DejaVu Sans"/>
                <a:cs typeface="DejaVu Sans"/>
              </a:defRPr>
            </a:defPPr>
          </a:lstStyle>
          <a:p xmlns:a="http://schemas.openxmlformats.org/drawingml/2006/main">
            <a:pPr>
              <a:defRPr sz="1575" b="0">
                <a:solidFill>
                  <a:srgbClr val="52636E"/>
                </a:solidFill>
                <a:latin typeface="DejaVu Sans"/>
                <a:ea typeface="DejaVu Sans"/>
                <a:cs typeface="DejaVu Sans"/>
              </a:defRPr>
            </a:pPr>
            <a:r>
              <a:rPr sz="1575" b="0">
                <a:solidFill>
                  <a:srgbClr val="52636E"/>
                </a:solidFill>
                <a:latin typeface="DejaVu Sans"/>
                <a:ea typeface="DejaVu Sans"/>
                <a:cs typeface="DejaVu Sans"/>
              </a:rPr>
              <a:t>MAE = mean absolute error in defects per image. Lower is better.</a:t>
            </a:r>
          </a:p>
        </p:txBody>
      </p:sp>
    </p:spTree>
    <p:extLst>
      <p:ext uri="{BB962C8B-B14F-4D97-AF65-F5344CB8AC3E}">
        <p14:creationId xmlns:p14="http://schemas.microsoft.com/office/powerpoint/2010/main" val="135145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5D6E3A-2D08-4E79-878E-43B41AE13FEF}"/>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Validation selected the 320 pixel model</a:t>
            </a:r>
          </a:p>
        </p:txBody>
      </p:sp>
      <p:sp>
        <p:nvSpPr>
          <p:cNvPr id="2" name="">
            <a:extLst xmlns:a="http://schemas.openxmlformats.org/drawingml/2006/main">
              <a:ext uri="{FF2B5EF4-FFF2-40B4-BE49-F238E27FC236}">
                <a16:creationId xmlns:a16="http://schemas.microsoft.com/office/drawing/2014/main" id="{2A68DBED-824D-440F-B257-6613B3D889F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4</a:t>
            </a:r>
          </a:p>
        </p:txBody>
      </p:sp>
      <p:graphicFrame>
        <p:nvGraphicFramePr>
          <p:cNvPr id="3" name="">
            <a:extLst xmlns:a="http://schemas.openxmlformats.org/drawingml/2006/main">
              <a:ext uri="{FF2B5EF4-FFF2-40B4-BE49-F238E27FC236}">
                <a16:creationId xmlns:a16="http://schemas.microsoft.com/office/drawing/2014/main" id="{B5CD37D6-982C-4A2E-BF1B-9AE2D18CC2E8}"/>
              </a:ext>
            </a:extLst>
          </p:cNvPr>
          <p:cNvGraphicFramePr/>
          <p:nvPr/>
        </p:nvGraphicFramePr>
        <p:xfrm>
          <a:off xmlns:a="http://schemas.openxmlformats.org/drawingml/2006/main" x="609600" y="1571625"/>
          <a:ext xmlns:a="http://schemas.openxmlformats.org/drawingml/2006/main" cx="10810875" cy="3048000"/>
        </p:xfrm>
        <a:graphic xmlns:a="http://schemas.openxmlformats.org/drawingml/2006/main">
          <a:graphicData uri="http://schemas.openxmlformats.org/drawingml/2006/table">
            <a:tbl>
              <a:tblPr/>
              <a:tblGrid>
                <a:gridCol w="5286375"/>
                <a:gridCol w="2762250"/>
                <a:gridCol w="2762250"/>
              </a:tblGrid>
              <a:tr h="609600">
                <a:tc>
                  <a:txBody>
                    <a:bodyPr/>
                    <a:lstStyle/>
                    <a:p>
                      <a:r>
                        <a:rPr sz="1875" b="1">
                          <a:solidFill>
                            <a:srgbClr val="162B3A"/>
                          </a:solidFill>
                          <a:latin typeface="DejaVu Sans"/>
                          <a:ea typeface="DejaVu Sans"/>
                          <a:cs typeface="DejaVu Sans"/>
                        </a:rPr>
                        <a:t>Validation measure</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320 pixels</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640 pixels</a:t>
                      </a:r>
                    </a:p>
                  </a:txBody>
                  <a:tcPr marL="91440" marR="91440" marT="45720" marB="45720">
                    <a:solidFill>
                      <a:srgbClr val="E8EFF2"/>
                    </a:solidFill>
                  </a:tcPr>
                </a:tc>
              </a:tr>
              <a:tr h="609600">
                <a:tc>
                  <a:txBody>
                    <a:bodyPr/>
                    <a:lstStyle/>
                    <a:p>
                      <a:r>
                        <a:rPr sz="1875" b="0">
                          <a:solidFill>
                            <a:srgbClr val="162B3A"/>
                          </a:solidFill>
                          <a:latin typeface="DejaVu Sans"/>
                          <a:ea typeface="DejaVu Sans"/>
                          <a:cs typeface="DejaVu Sans"/>
                        </a:rPr>
                        <a:t>mAP50–95</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0.1810</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0.1778</a:t>
                      </a:r>
                    </a:p>
                  </a:txBody>
                  <a:tcPr marL="91440" marR="91440" marT="45720" marB="45720">
                    <a:solidFill>
                      <a:srgbClr val="FFFFFF"/>
                    </a:solidFill>
                  </a:tcPr>
                </a:tc>
              </a:tr>
              <a:tr h="609600">
                <a:tc>
                  <a:txBody>
                    <a:bodyPr/>
                    <a:lstStyle/>
                    <a:p>
                      <a:r>
                        <a:rPr sz="1875" b="0">
                          <a:solidFill>
                            <a:srgbClr val="162B3A"/>
                          </a:solidFill>
                          <a:latin typeface="DejaVu Sans"/>
                          <a:ea typeface="DejaVu Sans"/>
                          <a:cs typeface="DejaVu Sans"/>
                        </a:rPr>
                        <a:t>mAP50</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0.4252</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0.3266</a:t>
                      </a:r>
                    </a:p>
                  </a:txBody>
                  <a:tcPr marL="91440" marR="91440" marT="45720" marB="45720">
                    <a:solidFill>
                      <a:srgbClr val="FFFFFF"/>
                    </a:solidFill>
                  </a:tcPr>
                </a:tc>
              </a:tr>
              <a:tr h="609600">
                <a:tc>
                  <a:txBody>
                    <a:bodyPr/>
                    <a:lstStyle/>
                    <a:p>
                      <a:r>
                        <a:rPr sz="1875" b="0">
                          <a:solidFill>
                            <a:srgbClr val="162B3A"/>
                          </a:solidFill>
                          <a:latin typeface="DejaVu Sans"/>
                          <a:ea typeface="DejaVu Sans"/>
                          <a:cs typeface="DejaVu Sans"/>
                        </a:rPr>
                        <a:t>Best epoch</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13</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8</a:t>
                      </a:r>
                    </a:p>
                  </a:txBody>
                  <a:tcPr marL="91440" marR="91440" marT="45720" marB="45720">
                    <a:solidFill>
                      <a:srgbClr val="FFFFFF"/>
                    </a:solidFill>
                  </a:tcPr>
                </a:tc>
              </a:tr>
              <a:tr h="609600">
                <a:tc>
                  <a:txBody>
                    <a:bodyPr/>
                    <a:lstStyle/>
                    <a:p>
                      <a:r>
                        <a:rPr sz="1875" b="0">
                          <a:solidFill>
                            <a:srgbClr val="162B3A"/>
                          </a:solidFill>
                          <a:latin typeface="DejaVu Sans"/>
                          <a:ea typeface="DejaVu Sans"/>
                          <a:cs typeface="DejaVu Sans"/>
                        </a:rPr>
                        <a:t>Training duration</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20.1 min</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17.3 min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D9898F-CF89-4ED8-9CF2-07958A644622}"/>
              </a:ext>
            </a:extLst>
          </p:cNvPr>
          <p:cNvSpPr>
            <a:spLocks xmlns:a="http://schemas.openxmlformats.org/drawingml/2006/main" noGrp="1"/>
          </p:cNvSpPr>
          <p:nvPr/>
        </p:nvSpPr>
        <p:spPr>
          <a:xfrm xmlns:a="http://schemas.openxmlformats.org/drawingml/2006/main">
            <a:off x="609600" y="5048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6885"/>
                </a:solidFill>
                <a:latin typeface="DejaVu Sans"/>
                <a:ea typeface="DejaVu Sans"/>
                <a:cs typeface="DejaVu Sans"/>
              </a:defRPr>
            </a:defPPr>
          </a:lstStyle>
          <a:p xmlns:a="http://schemas.openxmlformats.org/drawingml/2006/main">
            <a:pPr>
              <a:defRPr sz="2400" b="1">
                <a:solidFill>
                  <a:srgbClr val="246885"/>
                </a:solidFill>
                <a:latin typeface="DejaVu Sans"/>
                <a:ea typeface="DejaVu Sans"/>
                <a:cs typeface="DejaVu Sans"/>
              </a:defRPr>
            </a:pPr>
            <a:r>
              <a:rPr sz="2400" b="1">
                <a:solidFill>
                  <a:srgbClr val="246885"/>
                </a:solidFill>
                <a:latin typeface="DejaVu Sans"/>
                <a:ea typeface="DejaVu Sans"/>
                <a:cs typeface="DejaVu Sans"/>
              </a:rPr>
              <a:t>Frozen test settings: 320 pixels and confidence 0.65</a:t>
            </a:r>
          </a:p>
        </p:txBody>
      </p:sp>
      <p:sp>
        <p:nvSpPr>
          <p:cNvPr id="5" name="">
            <a:extLst xmlns:a="http://schemas.openxmlformats.org/drawingml/2006/main">
              <a:ext uri="{FF2B5EF4-FFF2-40B4-BE49-F238E27FC236}">
                <a16:creationId xmlns:a16="http://schemas.microsoft.com/office/drawing/2014/main" id="{0E02C8B9-A59F-41AD-9192-A760E07CF808}"/>
              </a:ext>
            </a:extLst>
          </p:cNvPr>
          <p:cNvSpPr>
            <a:spLocks xmlns:a="http://schemas.openxmlformats.org/drawingml/2006/main" noGrp="1"/>
          </p:cNvSpPr>
          <p:nvPr/>
        </p:nvSpPr>
        <p:spPr>
          <a:xfrm xmlns:a="http://schemas.openxmlformats.org/drawingml/2006/main">
            <a:off x="609600" y="5743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36E"/>
                </a:solidFill>
                <a:latin typeface="DejaVu Sans"/>
                <a:ea typeface="DejaVu Sans"/>
                <a:cs typeface="DejaVu Sans"/>
              </a:defRPr>
            </a:defPPr>
          </a:lstStyle>
          <a:p xmlns:a="http://schemas.openxmlformats.org/drawingml/2006/main">
            <a:pPr>
              <a:defRPr sz="1800" b="0">
                <a:solidFill>
                  <a:srgbClr val="52636E"/>
                </a:solidFill>
                <a:latin typeface="DejaVu Sans"/>
                <a:ea typeface="DejaVu Sans"/>
                <a:cs typeface="DejaVu Sans"/>
              </a:defRPr>
            </a:pPr>
            <a:r>
              <a:rPr sz="1800" b="0">
                <a:solidFill>
                  <a:srgbClr val="52636E"/>
                </a:solidFill>
                <a:latin typeface="DejaVu Sans"/>
                <a:ea typeface="DejaVu Sans"/>
                <a:cs typeface="DejaVu Sans"/>
              </a:rPr>
              <a:t>Small difference, one seed. The 640 model led slightly on pooled F1.</a:t>
            </a:r>
          </a:p>
        </p:txBody>
      </p:sp>
    </p:spTree>
    <p:extLst>
      <p:ext uri="{BB962C8B-B14F-4D97-AF65-F5344CB8AC3E}">
        <p14:creationId xmlns:p14="http://schemas.microsoft.com/office/powerpoint/2010/main" val="1539880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BFBACB-A3F0-4306-B85F-949F4389A4A0}"/>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The detector found 37 of 79 test defects</a:t>
            </a:r>
          </a:p>
        </p:txBody>
      </p:sp>
      <p:sp>
        <p:nvSpPr>
          <p:cNvPr id="2" name="">
            <a:extLst xmlns:a="http://schemas.openxmlformats.org/drawingml/2006/main">
              <a:ext uri="{FF2B5EF4-FFF2-40B4-BE49-F238E27FC236}">
                <a16:creationId xmlns:a16="http://schemas.microsoft.com/office/drawing/2014/main" id="{7910CB67-E16D-4124-9A54-5FF1F390C98F}"/>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5</a:t>
            </a:r>
          </a:p>
        </p:txBody>
      </p:sp>
      <p:sp>
        <p:nvSpPr>
          <p:cNvPr id="3" name="">
            <a:extLst xmlns:a="http://schemas.openxmlformats.org/drawingml/2006/main">
              <a:ext uri="{FF2B5EF4-FFF2-40B4-BE49-F238E27FC236}">
                <a16:creationId xmlns:a16="http://schemas.microsoft.com/office/drawing/2014/main" id="{7006484F-2691-4529-92EC-C5352FF07128}"/>
              </a:ext>
            </a:extLst>
          </p:cNvPr>
          <p:cNvSpPr>
            <a:spLocks xmlns:a="http://schemas.openxmlformats.org/drawingml/2006/main" noGrp="1"/>
          </p:cNvSpPr>
          <p:nvPr/>
        </p:nvSpPr>
        <p:spPr>
          <a:xfrm xmlns:a="http://schemas.openxmlformats.org/drawingml/2006/main">
            <a:off x="609600" y="13811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6885"/>
                </a:solidFill>
                <a:latin typeface="DejaVu Sans"/>
                <a:ea typeface="DejaVu Sans"/>
                <a:cs typeface="DejaVu Sans"/>
              </a:defRPr>
            </a:defPPr>
          </a:lstStyle>
          <a:p xmlns:a="http://schemas.openxmlformats.org/drawingml/2006/main">
            <a:pPr>
              <a:defRPr sz="2700" b="1">
                <a:solidFill>
                  <a:srgbClr val="246885"/>
                </a:solidFill>
                <a:latin typeface="DejaVu Sans"/>
                <a:ea typeface="DejaVu Sans"/>
                <a:cs typeface="DejaVu Sans"/>
              </a:defRPr>
            </a:pPr>
            <a:r>
              <a:rPr sz="2700" b="1">
                <a:solidFill>
                  <a:srgbClr val="246885"/>
                </a:solidFill>
                <a:latin typeface="DejaVu Sans"/>
                <a:ea typeface="DejaVu Sans"/>
                <a:cs typeface="DejaVu Sans"/>
              </a:rPr>
              <a:t>80.4% precision</a:t>
            </a:r>
          </a:p>
        </p:txBody>
      </p:sp>
      <p:sp>
        <p:nvSpPr>
          <p:cNvPr id="4" name="">
            <a:extLst xmlns:a="http://schemas.openxmlformats.org/drawingml/2006/main">
              <a:ext uri="{FF2B5EF4-FFF2-40B4-BE49-F238E27FC236}">
                <a16:creationId xmlns:a16="http://schemas.microsoft.com/office/drawing/2014/main" id="{96421980-9913-439D-A6D4-9A132FBF9D71}"/>
              </a:ext>
            </a:extLst>
          </p:cNvPr>
          <p:cNvSpPr>
            <a:spLocks xmlns:a="http://schemas.openxmlformats.org/drawingml/2006/main" noGrp="1"/>
          </p:cNvSpPr>
          <p:nvPr/>
        </p:nvSpPr>
        <p:spPr>
          <a:xfrm xmlns:a="http://schemas.openxmlformats.org/drawingml/2006/main">
            <a:off x="6381750" y="13811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6885"/>
                </a:solidFill>
                <a:latin typeface="DejaVu Sans"/>
                <a:ea typeface="DejaVu Sans"/>
                <a:cs typeface="DejaVu Sans"/>
              </a:defRPr>
            </a:defPPr>
          </a:lstStyle>
          <a:p xmlns:a="http://schemas.openxmlformats.org/drawingml/2006/main">
            <a:pPr>
              <a:defRPr sz="2700" b="1">
                <a:solidFill>
                  <a:srgbClr val="246885"/>
                </a:solidFill>
                <a:latin typeface="DejaVu Sans"/>
                <a:ea typeface="DejaVu Sans"/>
                <a:cs typeface="DejaVu Sans"/>
              </a:defRPr>
            </a:pPr>
            <a:r>
              <a:rPr sz="2700" b="1">
                <a:solidFill>
                  <a:srgbClr val="246885"/>
                </a:solidFill>
                <a:latin typeface="DejaVu Sans"/>
                <a:ea typeface="DejaVu Sans"/>
                <a:cs typeface="DejaVu Sans"/>
              </a:rPr>
              <a:t>46.8% recall</a:t>
            </a:r>
          </a:p>
        </p:txBody>
      </p:sp>
      <p:graphicFrame>
        <p:nvGraphicFramePr>
          <p:cNvPr id="5" name="">
            <a:extLst xmlns:a="http://schemas.openxmlformats.org/drawingml/2006/main">
              <a:ext uri="{FF2B5EF4-FFF2-40B4-BE49-F238E27FC236}">
                <a16:creationId xmlns:a16="http://schemas.microsoft.com/office/drawing/2014/main" id="{753DBBED-0037-4BE6-9D0B-2919CC169889}"/>
              </a:ext>
            </a:extLst>
          </p:cNvPr>
          <p:cNvGraphicFramePr/>
          <p:nvPr/>
        </p:nvGraphicFramePr>
        <p:xfrm>
          <a:off xmlns:a="http://schemas.openxmlformats.org/drawingml/2006/main" x="609600" y="2333625"/>
          <a:ext xmlns:a="http://schemas.openxmlformats.org/drawingml/2006/main" cx="10810875" cy="3048000"/>
        </p:xfrm>
        <a:graphic xmlns:a="http://schemas.openxmlformats.org/drawingml/2006/main">
          <a:graphicData uri="http://schemas.openxmlformats.org/drawingml/2006/table">
            <a:tbl>
              <a:tblPr/>
              <a:tblGrid>
                <a:gridCol w="4762500"/>
                <a:gridCol w="3524250"/>
                <a:gridCol w="2524125"/>
              </a:tblGrid>
              <a:tr h="508000">
                <a:tc>
                  <a:txBody>
                    <a:bodyPr/>
                    <a:lstStyle/>
                    <a:p>
                      <a:r>
                        <a:rPr sz="1875" b="1">
                          <a:solidFill>
                            <a:srgbClr val="162B3A"/>
                          </a:solidFill>
                          <a:latin typeface="DejaVu Sans"/>
                          <a:ea typeface="DejaVu Sans"/>
                          <a:cs typeface="DejaVu Sans"/>
                        </a:rPr>
                        <a:t>Class</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Correct / annotated</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Recall</a:t>
                      </a:r>
                    </a:p>
                  </a:txBody>
                  <a:tcPr marL="91440" marR="91440" marT="45720" marB="45720">
                    <a:solidFill>
                      <a:srgbClr val="E8EFF2"/>
                    </a:solidFill>
                  </a:tcPr>
                </a:tc>
              </a:tr>
              <a:tr h="508000">
                <a:tc>
                  <a:txBody>
                    <a:bodyPr/>
                    <a:lstStyle/>
                    <a:p>
                      <a:r>
                        <a:rPr sz="1875" b="0">
                          <a:solidFill>
                            <a:srgbClr val="162B3A"/>
                          </a:solidFill>
                          <a:latin typeface="DejaVu Sans"/>
                          <a:ea typeface="DejaVu Sans"/>
                          <a:cs typeface="DejaVu Sans"/>
                        </a:rPr>
                        <a:t>Unsealed</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32 / 49</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65.3%</a:t>
                      </a:r>
                    </a:p>
                  </a:txBody>
                  <a:tcPr marL="91440" marR="91440" marT="45720" marB="45720">
                    <a:solidFill>
                      <a:srgbClr val="FFFFFF"/>
                    </a:solidFill>
                  </a:tcPr>
                </a:tc>
              </a:tr>
              <a:tr h="508000">
                <a:tc>
                  <a:txBody>
                    <a:bodyPr/>
                    <a:lstStyle/>
                    <a:p>
                      <a:r>
                        <a:rPr sz="1875" b="0">
                          <a:solidFill>
                            <a:srgbClr val="162B3A"/>
                          </a:solidFill>
                          <a:latin typeface="DejaVu Sans"/>
                          <a:ea typeface="DejaVu Sans"/>
                          <a:cs typeface="DejaVu Sans"/>
                        </a:rPr>
                        <a:t>Packaging error</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5 / 23</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21.7%</a:t>
                      </a:r>
                    </a:p>
                  </a:txBody>
                  <a:tcPr marL="91440" marR="91440" marT="45720" marB="45720">
                    <a:solidFill>
                      <a:srgbClr val="FFFFFF"/>
                    </a:solidFill>
                  </a:tcPr>
                </a:tc>
              </a:tr>
              <a:tr h="508000">
                <a:tc>
                  <a:txBody>
                    <a:bodyPr/>
                    <a:lstStyle/>
                    <a:p>
                      <a:r>
                        <a:rPr sz="1875" b="0">
                          <a:solidFill>
                            <a:srgbClr val="162B3A"/>
                          </a:solidFill>
                          <a:latin typeface="DejaVu Sans"/>
                          <a:ea typeface="DejaVu Sans"/>
                          <a:cs typeface="DejaVu Sans"/>
                        </a:rPr>
                        <a:t>Loose meat</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 / 3</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a:t>
                      </a:r>
                    </a:p>
                  </a:txBody>
                  <a:tcPr marL="91440" marR="91440" marT="45720" marB="45720">
                    <a:solidFill>
                      <a:srgbClr val="FFFFFF"/>
                    </a:solidFill>
                  </a:tcPr>
                </a:tc>
              </a:tr>
              <a:tr h="508000">
                <a:tc>
                  <a:txBody>
                    <a:bodyPr/>
                    <a:lstStyle/>
                    <a:p>
                      <a:r>
                        <a:rPr sz="1875" b="0">
                          <a:solidFill>
                            <a:srgbClr val="162B3A"/>
                          </a:solidFill>
                          <a:latin typeface="DejaVu Sans"/>
                          <a:ea typeface="DejaVu Sans"/>
                          <a:cs typeface="DejaVu Sans"/>
                        </a:rPr>
                        <a:t>Twisted meat</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 / 4</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a:t>
                      </a:r>
                    </a:p>
                  </a:txBody>
                  <a:tcPr marL="91440" marR="91440" marT="45720" marB="45720">
                    <a:solidFill>
                      <a:srgbClr val="FFFFFF"/>
                    </a:solidFill>
                  </a:tcPr>
                </a:tc>
              </a:tr>
              <a:tr h="508000">
                <a:tc>
                  <a:txBody>
                    <a:bodyPr/>
                    <a:lstStyle/>
                    <a:p>
                      <a:r>
                        <a:rPr sz="1875" b="0">
                          <a:solidFill>
                            <a:srgbClr val="162B3A"/>
                          </a:solidFill>
                          <a:latin typeface="DejaVu Sans"/>
                          <a:ea typeface="DejaVu Sans"/>
                          <a:cs typeface="DejaVu Sans"/>
                        </a:rPr>
                        <a:t>Wrinkle</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No test examples</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Unassessable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8226B70-B925-4CB6-B534-4154686DBE2D}"/>
              </a:ext>
            </a:extLst>
          </p:cNvPr>
          <p:cNvSpPr>
            <a:spLocks xmlns:a="http://schemas.openxmlformats.org/drawingml/2006/main" noGrp="1"/>
          </p:cNvSpPr>
          <p:nvPr/>
        </p:nvSpPr>
        <p:spPr>
          <a:xfrm xmlns:a="http://schemas.openxmlformats.org/drawingml/2006/main">
            <a:off x="609600" y="58388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36E"/>
                </a:solidFill>
                <a:latin typeface="DejaVu Sans"/>
                <a:ea typeface="DejaVu Sans"/>
                <a:cs typeface="DejaVu Sans"/>
              </a:defRPr>
            </a:defPPr>
          </a:lstStyle>
          <a:p xmlns:a="http://schemas.openxmlformats.org/drawingml/2006/main">
            <a:pPr>
              <a:defRPr sz="1875" b="0">
                <a:solidFill>
                  <a:srgbClr val="52636E"/>
                </a:solidFill>
                <a:latin typeface="DejaVu Sans"/>
                <a:ea typeface="DejaVu Sans"/>
                <a:cs typeface="DejaVu Sans"/>
              </a:defRPr>
            </a:pPr>
            <a:r>
              <a:rPr sz="1875" b="0">
                <a:solidFill>
                  <a:srgbClr val="52636E"/>
                </a:solidFill>
                <a:latin typeface="DejaVu Sans"/>
                <a:ea typeface="DejaVu Sans"/>
                <a:cs typeface="DejaVu Sans"/>
              </a:rPr>
              <a:t>Count MAE: constant baseline 0.2875, detector 0.4875</a:t>
            </a:r>
          </a:p>
        </p:txBody>
      </p:sp>
    </p:spTree>
    <p:extLst>
      <p:ext uri="{BB962C8B-B14F-4D97-AF65-F5344CB8AC3E}">
        <p14:creationId xmlns:p14="http://schemas.microsoft.com/office/powerpoint/2010/main" val="262785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780FD1-64A1-4623-AE81-CB5F7DB7B08F}"/>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A correct detection and a missed defect</a:t>
            </a:r>
          </a:p>
        </p:txBody>
      </p:sp>
      <p:sp>
        <p:nvSpPr>
          <p:cNvPr id="2" name="">
            <a:extLst xmlns:a="http://schemas.openxmlformats.org/drawingml/2006/main">
              <a:ext uri="{FF2B5EF4-FFF2-40B4-BE49-F238E27FC236}">
                <a16:creationId xmlns:a16="http://schemas.microsoft.com/office/drawing/2014/main" id="{0B1734A0-3BF9-4B5B-B235-C3BF4F3BE4C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6</a:t>
            </a:r>
          </a:p>
        </p:txBody>
      </p:sp>
      <p:pic>
        <p:nvPicPr>
          <p:cNvPr id="3" name="">
            <a:extLst xmlns:a="http://schemas.openxmlformats.org/drawingml/2006/main">
              <a:ext uri="{FF2B5EF4-FFF2-40B4-BE49-F238E27FC236}">
                <a16:creationId xmlns:a16="http://schemas.microsoft.com/office/drawing/2014/main" id="{9A52C793-3D75-461F-82D3-636DAE1F0442}"/>
              </a:ext>
            </a:extLst>
          </p:cNvPr>
          <p:cNvPicPr>
            <a:picLocks xmlns:a="http://schemas.openxmlformats.org/drawingml/2006/main" noChangeAspect="1"/>
          </p:cNvPicPr>
          <p:nvPr/>
        </p:nvPicPr>
        <p:blipFill>
          <a:blip xmlns:r="http://schemas.openxmlformats.org/officeDocument/2006/relationships" xmlns:a="http://schemas.openxmlformats.org/drawingml/2006/main" r:embed="Rb3fb984777484daa"/>
          <a:stretch xmlns:a="http://schemas.openxmlformats.org/drawingml/2006/main"/>
        </p:blipFill>
        <p:spPr>
          <a:xfrm xmlns:a="http://schemas.openxmlformats.org/drawingml/2006/main">
            <a:off x="833327" y="1381125"/>
            <a:ext cx="1041104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BB0489-8562-4CB4-890B-02933F11C490}"/>
              </a:ext>
            </a:extLst>
          </p:cNvPr>
          <p:cNvSpPr>
            <a:spLocks xmlns:a="http://schemas.openxmlformats.org/drawingml/2006/main" noGrp="1"/>
          </p:cNvSpPr>
          <p:nvPr/>
        </p:nvSpPr>
        <p:spPr>
          <a:xfrm xmlns:a="http://schemas.openxmlformats.org/drawingml/2006/main">
            <a:off x="609600" y="6029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36E"/>
                </a:solidFill>
                <a:latin typeface="DejaVu Sans"/>
                <a:ea typeface="DejaVu Sans"/>
                <a:cs typeface="DejaVu Sans"/>
              </a:defRPr>
            </a:defPPr>
          </a:lstStyle>
          <a:p xmlns:a="http://schemas.openxmlformats.org/drawingml/2006/main">
            <a:pPr>
              <a:defRPr sz="1725" b="0">
                <a:solidFill>
                  <a:srgbClr val="52636E"/>
                </a:solidFill>
                <a:latin typeface="DejaVu Sans"/>
                <a:ea typeface="DejaVu Sans"/>
                <a:cs typeface="DejaVu Sans"/>
              </a:defRPr>
            </a:pPr>
            <a:r>
              <a:rPr sz="1725" b="0">
                <a:solidFill>
                  <a:srgbClr val="52636E"/>
                </a:solidFill>
                <a:latin typeface="DejaVu Sans"/>
                <a:ea typeface="DejaVu Sans"/>
                <a:cs typeface="DejaVu Sans"/>
              </a:rPr>
              <a:t>Green: annotation     Orange dashed: prediction at confidence 0.65</a:t>
            </a:r>
          </a:p>
        </p:txBody>
      </p:sp>
    </p:spTree>
    <p:extLst>
      <p:ext uri="{BB962C8B-B14F-4D97-AF65-F5344CB8AC3E}">
        <p14:creationId xmlns:p14="http://schemas.microsoft.com/office/powerpoint/2010/main" val="18877923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4776EF-4713-490E-B35A-7651A0130047}"/>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Conclusions and personal reflection</a:t>
            </a:r>
          </a:p>
        </p:txBody>
      </p:sp>
      <p:sp>
        <p:nvSpPr>
          <p:cNvPr id="2" name="">
            <a:extLst xmlns:a="http://schemas.openxmlformats.org/drawingml/2006/main">
              <a:ext uri="{FF2B5EF4-FFF2-40B4-BE49-F238E27FC236}">
                <a16:creationId xmlns:a16="http://schemas.microsoft.com/office/drawing/2014/main" id="{7FD43C94-31FB-4FE8-9C52-22BE2497493E}"/>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7</a:t>
            </a:r>
          </a:p>
        </p:txBody>
      </p:sp>
      <p:sp>
        <p:nvSpPr>
          <p:cNvPr id="3" name="">
            <a:extLst xmlns:a="http://schemas.openxmlformats.org/drawingml/2006/main">
              <a:ext uri="{FF2B5EF4-FFF2-40B4-BE49-F238E27FC236}">
                <a16:creationId xmlns:a16="http://schemas.microsoft.com/office/drawing/2014/main" id="{16268A5C-053E-4ABB-85E0-80C5B7370A44}"/>
              </a:ext>
            </a:extLst>
          </p:cNvPr>
          <p:cNvSpPr>
            <a:spLocks xmlns:a="http://schemas.openxmlformats.org/drawingml/2006/main" noGrp="1"/>
          </p:cNvSpPr>
          <p:nvPr/>
        </p:nvSpPr>
        <p:spPr>
          <a:xfrm xmlns:a="http://schemas.openxmlformats.org/drawingml/2006/main">
            <a:off x="609600" y="15716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46885"/>
                </a:solidFill>
                <a:latin typeface="DejaVu Sans"/>
                <a:ea typeface="DejaVu Sans"/>
                <a:cs typeface="DejaVu Sans"/>
              </a:defRPr>
            </a:defPPr>
          </a:lstStyle>
          <a:p xmlns:a="http://schemas.openxmlformats.org/drawingml/2006/main">
            <a:pPr>
              <a:defRPr sz="2325" b="1">
                <a:solidFill>
                  <a:srgbClr val="246885"/>
                </a:solidFill>
                <a:latin typeface="DejaVu Sans"/>
                <a:ea typeface="DejaVu Sans"/>
                <a:cs typeface="DejaVu Sans"/>
              </a:defRPr>
            </a:pPr>
            <a:r>
              <a:rPr sz="2325" b="1">
                <a:solidFill>
                  <a:srgbClr val="246885"/>
                </a:solidFill>
                <a:latin typeface="DejaVu Sans"/>
                <a:ea typeface="DejaVu Sans"/>
                <a:cs typeface="DejaVu Sans"/>
              </a:rPr>
              <a:t>Current capability</a:t>
            </a:r>
          </a:p>
        </p:txBody>
      </p:sp>
      <p:sp>
        <p:nvSpPr>
          <p:cNvPr id="4" name="">
            <a:extLst xmlns:a="http://schemas.openxmlformats.org/drawingml/2006/main">
              <a:ext uri="{FF2B5EF4-FFF2-40B4-BE49-F238E27FC236}">
                <a16:creationId xmlns:a16="http://schemas.microsoft.com/office/drawing/2014/main" id="{D4261291-415E-4D93-A397-4361D236306C}"/>
              </a:ext>
            </a:extLst>
          </p:cNvPr>
          <p:cNvSpPr>
            <a:spLocks xmlns:a="http://schemas.openxmlformats.org/drawingml/2006/main" noGrp="1"/>
          </p:cNvSpPr>
          <p:nvPr/>
        </p:nvSpPr>
        <p:spPr>
          <a:xfrm xmlns:a="http://schemas.openxmlformats.org/drawingml/2006/main">
            <a:off x="609600" y="2238375"/>
            <a:ext cx="5143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B3A"/>
                </a:solidFill>
                <a:latin typeface="DejaVu Sans"/>
                <a:ea typeface="DejaVu Sans"/>
                <a:cs typeface="DejaVu Sans"/>
              </a:defRPr>
            </a:defPPr>
          </a:lstStyle>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Strongest on unsealed packaging</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More than half of test defects missed</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Clearer labels and independent tray data are the next priorities</a:t>
            </a:r>
          </a:p>
        </p:txBody>
      </p:sp>
      <p:sp>
        <p:nvSpPr>
          <p:cNvPr id="5" name="">
            <a:extLst xmlns:a="http://schemas.openxmlformats.org/drawingml/2006/main">
              <a:ext uri="{FF2B5EF4-FFF2-40B4-BE49-F238E27FC236}">
                <a16:creationId xmlns:a16="http://schemas.microsoft.com/office/drawing/2014/main" id="{80C8DF82-ACAA-4332-993C-4963ECDD6C03}"/>
              </a:ext>
            </a:extLst>
          </p:cNvPr>
          <p:cNvSpPr>
            <a:spLocks xmlns:a="http://schemas.openxmlformats.org/drawingml/2006/main" noGrp="1"/>
          </p:cNvSpPr>
          <p:nvPr/>
        </p:nvSpPr>
        <p:spPr>
          <a:xfrm xmlns:a="http://schemas.openxmlformats.org/drawingml/2006/main">
            <a:off x="6667500" y="15716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46885"/>
                </a:solidFill>
                <a:latin typeface="DejaVu Sans"/>
                <a:ea typeface="DejaVu Sans"/>
                <a:cs typeface="DejaVu Sans"/>
              </a:defRPr>
            </a:defPPr>
          </a:lstStyle>
          <a:p xmlns:a="http://schemas.openxmlformats.org/drawingml/2006/main">
            <a:pPr>
              <a:defRPr sz="2325" b="1">
                <a:solidFill>
                  <a:srgbClr val="246885"/>
                </a:solidFill>
                <a:latin typeface="DejaVu Sans"/>
                <a:ea typeface="DejaVu Sans"/>
                <a:cs typeface="DejaVu Sans"/>
              </a:defRPr>
            </a:pPr>
            <a:r>
              <a:rPr sz="2325" b="1">
                <a:solidFill>
                  <a:srgbClr val="246885"/>
                </a:solidFill>
                <a:latin typeface="DejaVu Sans"/>
                <a:ea typeface="DejaVu Sans"/>
                <a:cs typeface="DejaVu Sans"/>
              </a:rPr>
              <a:t>AI use and my learning</a:t>
            </a:r>
          </a:p>
        </p:txBody>
      </p:sp>
      <p:sp>
        <p:nvSpPr>
          <p:cNvPr id="6" name="">
            <a:extLst xmlns:a="http://schemas.openxmlformats.org/drawingml/2006/main">
              <a:ext uri="{FF2B5EF4-FFF2-40B4-BE49-F238E27FC236}">
                <a16:creationId xmlns:a16="http://schemas.microsoft.com/office/drawing/2014/main" id="{1A2AE13E-EC39-4FCC-A265-5C2219B91B90}"/>
              </a:ext>
            </a:extLst>
          </p:cNvPr>
          <p:cNvSpPr>
            <a:spLocks xmlns:a="http://schemas.openxmlformats.org/drawingml/2006/main" noGrp="1"/>
          </p:cNvSpPr>
          <p:nvPr/>
        </p:nvSpPr>
        <p:spPr>
          <a:xfrm xmlns:a="http://schemas.openxmlformats.org/drawingml/2006/main">
            <a:off x="6667500" y="2238375"/>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B3A"/>
                </a:solidFill>
                <a:latin typeface="DejaVu Sans"/>
                <a:ea typeface="DejaVu Sans"/>
                <a:cs typeface="DejaVu Sans"/>
              </a:defRPr>
            </a:defPPr>
          </a:lstStyle>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AI generated most initial code and prose</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I ran experiments and inspected epoch losses</a:t>
            </a:r>
          </a:p>
          <a:p xmlns:a="http://schemas.openxmlformats.org/drawingml/2006/main">
            <a:r>
              <a:t/>
            </a:r>
          </a:p>
          <a:p xmlns:a="http://schemas.openxmlformats.org/drawingml/2006/main">
            <a:pPr>
              <a:defRPr sz="2100" b="0">
                <a:solidFill>
                  <a:srgbClr val="162B3A"/>
                </a:solidFill>
                <a:latin typeface="DejaVu Sans"/>
                <a:ea typeface="DejaVu Sans"/>
                <a:cs typeface="DejaVu Sans"/>
              </a:defRPr>
            </a:pPr>
            <a:r>
              <a:rPr sz="2100" b="0">
                <a:solidFill>
                  <a:srgbClr val="162B3A"/>
                </a:solidFill>
                <a:latin typeface="DejaVu Sans"/>
                <a:ea typeface="DejaVu Sans"/>
                <a:cs typeface="DejaVu Sans"/>
              </a:rPr>
              <a:t>The network’s decisions still feel like a black box</a:t>
            </a:r>
          </a:p>
        </p:txBody>
      </p:sp>
    </p:spTree>
    <p:extLst>
      <p:ext uri="{BB962C8B-B14F-4D97-AF65-F5344CB8AC3E}">
        <p14:creationId xmlns:p14="http://schemas.microsoft.com/office/powerpoint/2010/main" val="16546002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A066C5-95E9-4484-94EF-DD67F13EA593}"/>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Backup for questions</a:t>
            </a:r>
          </a:p>
        </p:txBody>
      </p:sp>
      <p:sp>
        <p:nvSpPr>
          <p:cNvPr id="2" name="">
            <a:extLst xmlns:a="http://schemas.openxmlformats.org/drawingml/2006/main">
              <a:ext uri="{FF2B5EF4-FFF2-40B4-BE49-F238E27FC236}">
                <a16:creationId xmlns:a16="http://schemas.microsoft.com/office/drawing/2014/main" id="{A881F876-3418-495D-AEB5-96A505F67A9F}"/>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8</a:t>
            </a:r>
          </a:p>
        </p:txBody>
      </p:sp>
      <p:graphicFrame>
        <p:nvGraphicFramePr>
          <p:cNvPr id="3" name="">
            <a:extLst xmlns:a="http://schemas.openxmlformats.org/drawingml/2006/main">
              <a:ext uri="{FF2B5EF4-FFF2-40B4-BE49-F238E27FC236}">
                <a16:creationId xmlns:a16="http://schemas.microsoft.com/office/drawing/2014/main" id="{7811764C-E104-4C5E-ABD5-710A7B0072F3}"/>
              </a:ext>
            </a:extLst>
          </p:cNvPr>
          <p:cNvGraphicFramePr/>
          <p:nvPr/>
        </p:nvGraphicFramePr>
        <p:xfrm>
          <a:off xmlns:a="http://schemas.openxmlformats.org/drawingml/2006/main" x="609600" y="1619250"/>
          <a:ext xmlns:a="http://schemas.openxmlformats.org/drawingml/2006/main" cx="10810875" cy="3286125"/>
        </p:xfrm>
        <a:graphic xmlns:a="http://schemas.openxmlformats.org/drawingml/2006/main">
          <a:graphicData uri="http://schemas.openxmlformats.org/drawingml/2006/table">
            <a:tbl>
              <a:tblPr/>
              <a:tblGrid>
                <a:gridCol w="2428875"/>
                <a:gridCol w="5810250"/>
                <a:gridCol w="2571750"/>
              </a:tblGrid>
              <a:tr h="547688">
                <a:tc>
                  <a:txBody>
                    <a:bodyPr/>
                    <a:lstStyle/>
                    <a:p>
                      <a:r>
                        <a:rPr sz="1875" b="1">
                          <a:solidFill>
                            <a:srgbClr val="162B3A"/>
                          </a:solidFill>
                          <a:latin typeface="DejaVu Sans"/>
                          <a:ea typeface="DejaVu Sans"/>
                          <a:cs typeface="DejaVu Sans"/>
                        </a:rPr>
                        <a:t>Measure</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Meaning</a:t>
                      </a:r>
                    </a:p>
                  </a:txBody>
                  <a:tcPr marL="91440" marR="91440" marT="45720" marB="45720">
                    <a:solidFill>
                      <a:srgbClr val="E8EFF2"/>
                    </a:solidFill>
                  </a:tcPr>
                </a:tc>
                <a:tc>
                  <a:txBody>
                    <a:bodyPr/>
                    <a:lstStyle/>
                    <a:p>
                      <a:r>
                        <a:rPr sz="1875" b="1">
                          <a:solidFill>
                            <a:srgbClr val="162B3A"/>
                          </a:solidFill>
                          <a:latin typeface="DejaVu Sans"/>
                          <a:ea typeface="DejaVu Sans"/>
                          <a:cs typeface="DejaVu Sans"/>
                        </a:rPr>
                        <a:t>Test result</a:t>
                      </a:r>
                    </a:p>
                  </a:txBody>
                  <a:tcPr marL="91440" marR="91440" marT="45720" marB="45720">
                    <a:solidFill>
                      <a:srgbClr val="E8EFF2"/>
                    </a:solidFill>
                  </a:tcPr>
                </a:tc>
              </a:tr>
              <a:tr h="547688">
                <a:tc>
                  <a:txBody>
                    <a:bodyPr/>
                    <a:lstStyle/>
                    <a:p>
                      <a:r>
                        <a:rPr sz="1875" b="0">
                          <a:solidFill>
                            <a:srgbClr val="162B3A"/>
                          </a:solidFill>
                          <a:latin typeface="DejaVu Sans"/>
                          <a:ea typeface="DejaVu Sans"/>
                          <a:cs typeface="DejaVu Sans"/>
                        </a:rPr>
                        <a:t>Precision</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Correct among retained detections</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37 / 46 = 80.4%</a:t>
                      </a:r>
                    </a:p>
                  </a:txBody>
                  <a:tcPr marL="91440" marR="91440" marT="45720" marB="45720">
                    <a:solidFill>
                      <a:srgbClr val="FFFFFF"/>
                    </a:solidFill>
                  </a:tcPr>
                </a:tc>
              </a:tr>
              <a:tr h="547688">
                <a:tc>
                  <a:txBody>
                    <a:bodyPr/>
                    <a:lstStyle/>
                    <a:p>
                      <a:r>
                        <a:rPr sz="1875" b="0">
                          <a:solidFill>
                            <a:srgbClr val="162B3A"/>
                          </a:solidFill>
                          <a:latin typeface="DejaVu Sans"/>
                          <a:ea typeface="DejaVu Sans"/>
                          <a:cs typeface="DejaVu Sans"/>
                        </a:rPr>
                        <a:t>Recall</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Found among annotated defects</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37 / 79 = 46.8%</a:t>
                      </a:r>
                    </a:p>
                  </a:txBody>
                  <a:tcPr marL="91440" marR="91440" marT="45720" marB="45720">
                    <a:solidFill>
                      <a:srgbClr val="FFFFFF"/>
                    </a:solidFill>
                  </a:tcPr>
                </a:tc>
              </a:tr>
              <a:tr h="547688">
                <a:tc>
                  <a:txBody>
                    <a:bodyPr/>
                    <a:lstStyle/>
                    <a:p>
                      <a:r>
                        <a:rPr sz="1875" b="0">
                          <a:solidFill>
                            <a:srgbClr val="162B3A"/>
                          </a:solidFill>
                          <a:latin typeface="DejaVu Sans"/>
                          <a:ea typeface="DejaVu Sans"/>
                          <a:cs typeface="DejaVu Sans"/>
                        </a:rPr>
                        <a:t>IoU threshold</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Minimum bounding-box overlap</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0.50</a:t>
                      </a:r>
                    </a:p>
                  </a:txBody>
                  <a:tcPr marL="91440" marR="91440" marT="45720" marB="45720">
                    <a:solidFill>
                      <a:srgbClr val="FFFFFF"/>
                    </a:solidFill>
                  </a:tcPr>
                </a:tc>
              </a:tr>
              <a:tr h="547688">
                <a:tc>
                  <a:txBody>
                    <a:bodyPr/>
                    <a:lstStyle/>
                    <a:p>
                      <a:r>
                        <a:rPr sz="1875" b="0">
                          <a:solidFill>
                            <a:srgbClr val="162B3A"/>
                          </a:solidFill>
                          <a:latin typeface="DejaVu Sans"/>
                          <a:ea typeface="DejaVu Sans"/>
                          <a:cs typeface="DejaVu Sans"/>
                        </a:rPr>
                        <a:t>mAP50</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Mean average precision at IoU 0.50</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0.2444</a:t>
                      </a:r>
                    </a:p>
                  </a:txBody>
                  <a:tcPr marL="91440" marR="91440" marT="45720" marB="45720">
                    <a:solidFill>
                      <a:srgbClr val="FFFFFF"/>
                    </a:solidFill>
                  </a:tcPr>
                </a:tc>
              </a:tr>
              <a:tr h="547688">
                <a:tc>
                  <a:txBody>
                    <a:bodyPr/>
                    <a:lstStyle/>
                    <a:p>
                      <a:r>
                        <a:rPr sz="1875" b="0">
                          <a:solidFill>
                            <a:srgbClr val="162B3A"/>
                          </a:solidFill>
                          <a:latin typeface="DejaVu Sans"/>
                          <a:ea typeface="DejaVu Sans"/>
                          <a:cs typeface="DejaVu Sans"/>
                        </a:rPr>
                        <a:t>mAP50–95</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Average over several IoU thresholds</a:t>
                      </a:r>
                    </a:p>
                  </a:txBody>
                  <a:tcPr marL="91440" marR="91440" marT="45720" marB="45720">
                    <a:solidFill>
                      <a:srgbClr val="FFFFFF"/>
                    </a:solidFill>
                  </a:tcPr>
                </a:tc>
                <a:tc>
                  <a:txBody>
                    <a:bodyPr/>
                    <a:lstStyle/>
                    <a:p>
                      <a:r>
                        <a:rPr sz="1875" b="0">
                          <a:solidFill>
                            <a:srgbClr val="162B3A"/>
                          </a:solidFill>
                          <a:latin typeface="DejaVu Sans"/>
                          <a:ea typeface="DejaVu Sans"/>
                          <a:cs typeface="DejaVu Sans"/>
                        </a:rPr>
                        <a:t>0.0995</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5DF35C5-53E5-42C9-A439-151E3C8A49FA}"/>
              </a:ext>
            </a:extLst>
          </p:cNvPr>
          <p:cNvSpPr>
            <a:spLocks xmlns:a="http://schemas.openxmlformats.org/drawingml/2006/main" noGrp="1"/>
          </p:cNvSpPr>
          <p:nvPr/>
        </p:nvSpPr>
        <p:spPr>
          <a:xfrm xmlns:a="http://schemas.openxmlformats.org/drawingml/2006/main">
            <a:off x="609600" y="5334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36E"/>
                </a:solidFill>
                <a:latin typeface="DejaVu Sans"/>
                <a:ea typeface="DejaVu Sans"/>
                <a:cs typeface="DejaVu Sans"/>
              </a:defRPr>
            </a:defPPr>
          </a:lstStyle>
          <a:p xmlns:a="http://schemas.openxmlformats.org/drawingml/2006/main">
            <a:pPr>
              <a:defRPr sz="2025" b="0">
                <a:solidFill>
                  <a:srgbClr val="52636E"/>
                </a:solidFill>
                <a:latin typeface="DejaVu Sans"/>
                <a:ea typeface="DejaVu Sans"/>
                <a:cs typeface="DejaVu Sans"/>
              </a:defRPr>
            </a:pPr>
            <a:r>
              <a:rPr sz="2025" b="0">
                <a:solidFill>
                  <a:srgbClr val="52636E"/>
                </a:solidFill>
                <a:latin typeface="DejaVu Sans"/>
                <a:ea typeface="DejaVu Sans"/>
                <a:cs typeface="DejaVu Sans"/>
              </a:rPr>
              <a:t>No human comparison, no independent tray split, no test examples for wrinkle</a:t>
            </a:r>
          </a:p>
        </p:txBody>
      </p:sp>
    </p:spTree>
    <p:extLst>
      <p:ext uri="{BB962C8B-B14F-4D97-AF65-F5344CB8AC3E}">
        <p14:creationId xmlns:p14="http://schemas.microsoft.com/office/powerpoint/2010/main" val="1642015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D83C520-212F-4C56-A26B-08B805C6B7D5}"/>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B3A"/>
                </a:solidFill>
                <a:latin typeface="DejaVu Sans"/>
                <a:ea typeface="DejaVu Sans"/>
                <a:cs typeface="DejaVu Sans"/>
              </a:defRPr>
            </a:defPPr>
          </a:lstStyle>
          <a:p xmlns:a="http://schemas.openxmlformats.org/drawingml/2006/main">
            <a:pPr>
              <a:defRPr sz="3150" b="1">
                <a:solidFill>
                  <a:srgbClr val="162B3A"/>
                </a:solidFill>
                <a:latin typeface="DejaVu Sans"/>
                <a:ea typeface="DejaVu Sans"/>
                <a:cs typeface="DejaVu Sans"/>
              </a:defRPr>
            </a:pPr>
            <a:r>
              <a:rPr sz="3150" b="1">
                <a:solidFill>
                  <a:srgbClr val="162B3A"/>
                </a:solidFill>
                <a:latin typeface="DejaVu Sans"/>
                <a:ea typeface="DejaVu Sans"/>
                <a:cs typeface="DejaVu Sans"/>
              </a:rPr>
              <a:t>Sources</a:t>
            </a:r>
          </a:p>
        </p:txBody>
      </p:sp>
      <p:sp>
        <p:nvSpPr>
          <p:cNvPr id="2" name="">
            <a:extLst xmlns:a="http://schemas.openxmlformats.org/drawingml/2006/main">
              <a:ext uri="{FF2B5EF4-FFF2-40B4-BE49-F238E27FC236}">
                <a16:creationId xmlns:a16="http://schemas.microsoft.com/office/drawing/2014/main" id="{1F302229-410C-4422-8CCE-AB84BF66CAD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36E"/>
                </a:solidFill>
                <a:latin typeface="DejaVu Sans"/>
                <a:ea typeface="DejaVu Sans"/>
                <a:cs typeface="DejaVu Sans"/>
              </a:defRPr>
            </a:defPPr>
          </a:lstStyle>
          <a:p xmlns:a="http://schemas.openxmlformats.org/drawingml/2006/main">
            <a:pPr>
              <a:defRPr sz="1275" b="0">
                <a:solidFill>
                  <a:srgbClr val="52636E"/>
                </a:solidFill>
                <a:latin typeface="DejaVu Sans"/>
                <a:ea typeface="DejaVu Sans"/>
                <a:cs typeface="DejaVu Sans"/>
              </a:defRPr>
            </a:pPr>
            <a:r>
              <a:rPr sz="1275" b="0">
                <a:solidFill>
                  <a:srgbClr val="52636E"/>
                </a:solidFill>
                <a:latin typeface="DejaVu Sans"/>
                <a:ea typeface="DejaVu Sans"/>
                <a:cs typeface="DejaVu Sans"/>
              </a:rPr>
              <a:t>9</a:t>
            </a:r>
          </a:p>
        </p:txBody>
      </p:sp>
      <p:sp>
        <p:nvSpPr>
          <p:cNvPr id="3" name="">
            <a:extLst xmlns:a="http://schemas.openxmlformats.org/drawingml/2006/main">
              <a:ext uri="{FF2B5EF4-FFF2-40B4-BE49-F238E27FC236}">
                <a16:creationId xmlns:a16="http://schemas.microsoft.com/office/drawing/2014/main" id="{D7E1C7A1-7DE0-44B5-8929-0E259C626791}"/>
              </a:ext>
            </a:extLst>
          </p:cNvPr>
          <p:cNvSpPr>
            <a:spLocks xmlns:a="http://schemas.openxmlformats.org/drawingml/2006/main" noGrp="1"/>
          </p:cNvSpPr>
          <p:nvPr/>
        </p:nvSpPr>
        <p:spPr>
          <a:xfrm xmlns:a="http://schemas.openxmlformats.org/drawingml/2006/main">
            <a:off x="609600" y="1476375"/>
            <a:ext cx="1081087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B3A"/>
                </a:solidFill>
                <a:latin typeface="DejaVu Sans"/>
                <a:ea typeface="DejaVu Sans"/>
                <a:cs typeface="DejaVu Sans"/>
              </a:defRPr>
            </a:defPPr>
          </a:lstStyle>
          <a:p xmlns:a="http://schemas.openxmlformats.org/drawingml/2006/main">
            <a:pPr>
              <a:defRPr sz="1950" b="0">
                <a:solidFill>
                  <a:srgbClr val="162B3A"/>
                </a:solidFill>
                <a:latin typeface="DejaVu Sans"/>
                <a:ea typeface="DejaVu Sans"/>
                <a:cs typeface="DejaVu Sans"/>
              </a:defRPr>
            </a:pPr>
            <a:r>
              <a:rPr sz="1950" b="0">
                <a:solidFill>
                  <a:srgbClr val="162B3A"/>
                </a:solidFill>
                <a:latin typeface="DejaVu Sans"/>
                <a:ea typeface="DejaVu Sans"/>
                <a:cs typeface="DejaVu Sans"/>
              </a:rPr>
              <a:t>Monash University, MMA3001 Project Brief and Dataset 3 description, 2026</a:t>
            </a:r>
          </a:p>
          <a:p xmlns:a="http://schemas.openxmlformats.org/drawingml/2006/main">
            <a:r>
              <a:t/>
            </a:r>
          </a:p>
          <a:p xmlns:a="http://schemas.openxmlformats.org/drawingml/2006/main">
            <a:pPr>
              <a:defRPr sz="1950" b="0">
                <a:solidFill>
                  <a:srgbClr val="162B3A"/>
                </a:solidFill>
                <a:latin typeface="DejaVu Sans"/>
                <a:ea typeface="DejaVu Sans"/>
                <a:cs typeface="DejaVu Sans"/>
              </a:defRPr>
            </a:pPr>
            <a:r>
              <a:rPr sz="1950" b="0">
                <a:solidFill>
                  <a:srgbClr val="162B3A"/>
                </a:solidFill>
                <a:latin typeface="DejaVu Sans"/>
                <a:ea typeface="DejaVu Sans"/>
                <a:cs typeface="DejaVu Sans"/>
              </a:rPr>
              <a:t>Monash University, MMA3001 Week 5 regression teaching materials</a:t>
            </a:r>
          </a:p>
          <a:p xmlns:a="http://schemas.openxmlformats.org/drawingml/2006/main">
            <a:r>
              <a:t/>
            </a:r>
          </a:p>
          <a:p xmlns:a="http://schemas.openxmlformats.org/drawingml/2006/main">
            <a:pPr>
              <a:defRPr sz="1950" b="0">
                <a:solidFill>
                  <a:srgbClr val="162B3A"/>
                </a:solidFill>
                <a:latin typeface="DejaVu Sans"/>
                <a:ea typeface="DejaVu Sans"/>
                <a:cs typeface="DejaVu Sans"/>
              </a:defRPr>
            </a:pPr>
            <a:r>
              <a:rPr sz="1950" b="0">
                <a:solidFill>
                  <a:srgbClr val="162B3A"/>
                </a:solidFill>
                <a:latin typeface="DejaVu Sans"/>
                <a:ea typeface="DejaVu Sans"/>
                <a:cs typeface="DejaVu Sans"/>
              </a:rPr>
              <a:t>Hello, Pork Rasher Error Packaging, Roboflow version 4, CC BY 4.0</a:t>
            </a:r>
          </a:p>
          <a:p xmlns:a="http://schemas.openxmlformats.org/drawingml/2006/main">
            <a:r>
              <a:t/>
            </a:r>
          </a:p>
          <a:p xmlns:a="http://schemas.openxmlformats.org/drawingml/2006/main">
            <a:pPr>
              <a:defRPr sz="1950" b="0">
                <a:solidFill>
                  <a:srgbClr val="162B3A"/>
                </a:solidFill>
                <a:latin typeface="DejaVu Sans"/>
                <a:ea typeface="DejaVu Sans"/>
                <a:cs typeface="DejaVu Sans"/>
              </a:defRPr>
            </a:pPr>
            <a:r>
              <a:rPr sz="1950" b="0">
                <a:solidFill>
                  <a:srgbClr val="162B3A"/>
                </a:solidFill>
                <a:latin typeface="DejaVu Sans"/>
                <a:ea typeface="DejaVu Sans"/>
                <a:cs typeface="DejaVu Sans"/>
              </a:rPr>
              <a:t>Ultralytics, YOLOv8 model and training documentation</a:t>
            </a:r>
          </a:p>
          <a:p xmlns:a="http://schemas.openxmlformats.org/drawingml/2006/main">
            <a:r>
              <a:t/>
            </a:r>
          </a:p>
          <a:p xmlns:a="http://schemas.openxmlformats.org/drawingml/2006/main">
            <a:pPr>
              <a:defRPr sz="1950" b="0">
                <a:solidFill>
                  <a:srgbClr val="162B3A"/>
                </a:solidFill>
                <a:latin typeface="DejaVu Sans"/>
                <a:ea typeface="DejaVu Sans"/>
                <a:cs typeface="DejaVu Sans"/>
              </a:defRPr>
            </a:pPr>
            <a:r>
              <a:rPr sz="1950" b="0">
                <a:solidFill>
                  <a:srgbClr val="162B3A"/>
                </a:solidFill>
                <a:latin typeface="DejaVu Sans"/>
                <a:ea typeface="DejaVu Sans"/>
                <a:cs typeface="DejaVu Sans"/>
              </a:rPr>
              <a:t>Project report and saved validation and final-test records, 10 October 2026</a:t>
            </a:r>
          </a:p>
        </p:txBody>
      </p:sp>
    </p:spTree>
    <p:extLst>
      <p:ext uri="{BB962C8B-B14F-4D97-AF65-F5344CB8AC3E}">
        <p14:creationId xmlns:p14="http://schemas.microsoft.com/office/powerpoint/2010/main" val="383017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2026-10-10T09:21:14.9000000Z</dcterms:created>
  <dcterms:modified xsi:type="dcterms:W3CDTF">2026-10-10T09:21:14.9000000Z</dcterms:modified>
</coreProperties>
</file>